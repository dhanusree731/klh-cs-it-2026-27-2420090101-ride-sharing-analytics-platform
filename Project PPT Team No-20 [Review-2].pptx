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6" r:id="rId2"/>
    <p:sldId id="330" r:id="rId3"/>
    <p:sldId id="257" r:id="rId4"/>
    <p:sldId id="278" r:id="rId5"/>
    <p:sldId id="332" r:id="rId6"/>
    <p:sldId id="331" r:id="rId7"/>
    <p:sldId id="33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u sree" userId="27574b1470f031ed" providerId="LiveId" clId="{81A57AFF-139F-450F-A66A-435A7A84504D}"/>
    <pc:docChg chg="undo custSel modSld">
      <pc:chgData name="dhanu sree" userId="27574b1470f031ed" providerId="LiveId" clId="{81A57AFF-139F-450F-A66A-435A7A84504D}" dt="2026-09-18T05:48:23.371" v="23" actId="255"/>
      <pc:docMkLst>
        <pc:docMk/>
      </pc:docMkLst>
      <pc:sldChg chg="modSp mod">
        <pc:chgData name="dhanu sree" userId="27574b1470f031ed" providerId="LiveId" clId="{81A57AFF-139F-450F-A66A-435A7A84504D}" dt="2026-09-18T05:48:23.371" v="23" actId="255"/>
        <pc:sldMkLst>
          <pc:docMk/>
          <pc:sldMk cId="0" sldId="286"/>
        </pc:sldMkLst>
        <pc:spChg chg="mod">
          <ac:chgData name="dhanu sree" userId="27574b1470f031ed" providerId="LiveId" clId="{81A57AFF-139F-450F-A66A-435A7A84504D}" dt="2026-09-18T05:47:48.333" v="22" actId="1076"/>
          <ac:spMkLst>
            <pc:docMk/>
            <pc:sldMk cId="0" sldId="286"/>
            <ac:spMk id="2" creationId="{00000000-0000-0000-0000-000000000000}"/>
          </ac:spMkLst>
        </pc:spChg>
        <pc:spChg chg="mod">
          <ac:chgData name="dhanu sree" userId="27574b1470f031ed" providerId="LiveId" clId="{81A57AFF-139F-450F-A66A-435A7A84504D}" dt="2026-09-18T05:48:23.371" v="23" actId="255"/>
          <ac:spMkLst>
            <pc:docMk/>
            <pc:sldMk cId="0" sldId="28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D0270-8DDA-7D74-0011-72454A7CA2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F22A1B-CD3B-F1C5-F4FC-E49AA8DE8B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685AB6E-D69A-2C83-EF7D-65F037332230}"/>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8A245011-B23B-7D57-3AE8-DA6CC7E9F2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C66E88-21BC-CF9E-29B7-54CCBE9E6112}"/>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4269152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B5160-E65D-D0BF-085E-64696CCD97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4150F1-3713-D4FF-3A54-154CB19F48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031442-20CE-5956-C620-8D96D2442633}"/>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53632799-97AE-B5BA-5409-528B6E5C96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A516C6-9C4A-19B0-2DE1-D10A57DFEA77}"/>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178723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9729F-B37C-94C7-682F-BBE09DCEAC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0C76081-1F05-A31D-9EA4-02A50B086F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F9E1F3-9992-1BC1-76BC-5DF20D398077}"/>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2203DCCE-9712-85C4-62AE-32DF3A8768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13E2F2-E730-0871-03C0-B75712735555}"/>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310872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BDBF1-8392-C909-1F71-3466F64DDB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05CAE1-396E-E730-96E6-D1014977C2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176E7AE-9361-9418-9D80-B5D5D5DE4C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769F88E-C6C7-4A1E-C7BE-BA479AE5D4DD}"/>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6" name="Footer Placeholder 5">
            <a:extLst>
              <a:ext uri="{FF2B5EF4-FFF2-40B4-BE49-F238E27FC236}">
                <a16:creationId xmlns:a16="http://schemas.microsoft.com/office/drawing/2014/main" id="{DBAECC66-84D9-3F39-7D16-1960DCA9CF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587070-3E29-607A-811D-C251D4D0EAB3}"/>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4103850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35CF0-7EF5-0937-6863-A4FBC4B0801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FF6478-94EC-5851-F141-E3861D85FE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BAB86D-B573-93AE-0326-191E7AE08C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D5553D6-2855-2D3E-0D72-C4175D1BA1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C326F4-A517-6748-0138-E02ECA224C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FA1468D-6EE1-46C7-C3FA-7F683DE869D1}"/>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8" name="Footer Placeholder 7">
            <a:extLst>
              <a:ext uri="{FF2B5EF4-FFF2-40B4-BE49-F238E27FC236}">
                <a16:creationId xmlns:a16="http://schemas.microsoft.com/office/drawing/2014/main" id="{13593F02-D553-03C3-99D9-657A1338814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3BC00DA-3EF0-DF59-38B8-66530386E059}"/>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1519327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AF7FF-50E0-5932-F4C2-7C4AF75A6E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5001C93-76F2-8F78-A57E-C1F91C9139A7}"/>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4" name="Footer Placeholder 3">
            <a:extLst>
              <a:ext uri="{FF2B5EF4-FFF2-40B4-BE49-F238E27FC236}">
                <a16:creationId xmlns:a16="http://schemas.microsoft.com/office/drawing/2014/main" id="{F33FF2FA-79B6-0990-BD6C-D70893CB65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E3E0311-1CD0-0620-E82E-EF0F27FC5FF6}"/>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3477866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5BF430-6F13-3E3C-20EE-46A0C7D4D09C}"/>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3" name="Footer Placeholder 2">
            <a:extLst>
              <a:ext uri="{FF2B5EF4-FFF2-40B4-BE49-F238E27FC236}">
                <a16:creationId xmlns:a16="http://schemas.microsoft.com/office/drawing/2014/main" id="{4ED00068-3667-6C29-BD67-1FEC8ADA1CF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2829C3E-D1C6-6675-848E-BC7A0455B7A0}"/>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2947307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C6A6E-68DE-7ABC-A846-0BA60D3E27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994CF27-7D6B-B50E-3B7E-5D39AF4A74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523A2C9-418D-5B02-6179-B9A7BD5436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E81D39-9005-088E-8B28-4D331BCEB853}"/>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6" name="Footer Placeholder 5">
            <a:extLst>
              <a:ext uri="{FF2B5EF4-FFF2-40B4-BE49-F238E27FC236}">
                <a16:creationId xmlns:a16="http://schemas.microsoft.com/office/drawing/2014/main" id="{4629E170-15C5-E218-66AF-D57C05DC33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75C9C9-1C8B-03CC-A638-67AD180D83B3}"/>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2198116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9EE60-B9D1-25A4-304A-292DCFEEF1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9073C0-6C3A-283B-28B2-90FC6383F5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28E588-3F3C-B77D-4497-3FE7E36F7A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EAC981-CFEF-D8CB-157F-7F473D14EA7B}"/>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6" name="Footer Placeholder 5">
            <a:extLst>
              <a:ext uri="{FF2B5EF4-FFF2-40B4-BE49-F238E27FC236}">
                <a16:creationId xmlns:a16="http://schemas.microsoft.com/office/drawing/2014/main" id="{9EC40EBF-3BCE-1FC9-F482-8F8F663696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A71BEC-16FC-D268-4657-4888DD648CAC}"/>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321241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97455-0ECC-B5A7-2556-3536271B413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E4B56B-9901-21E4-4520-C40EEBAE69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2E4274-813A-EBD7-9B13-6FB319D63753}"/>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8FA645BE-0961-BD4A-49F9-CCD800711B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3976F3-31C4-03FA-BA92-E2F9CE150877}"/>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3282401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E33049-43A1-5519-0BC5-135B0571943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E58135-AB32-AADB-5800-4534E4E808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F04120-83EC-0C4E-1CC0-29ECE4191227}"/>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69673600-A1AD-0743-9E0B-0DD4A4EB8A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8DF818-96AA-7982-F0FD-6F1C1B59C440}"/>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1521254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860369-C392-6A3F-DAC8-77E97F43E0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FCF481-B489-40E3-6E0C-33942120C2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723E32-78B3-50B4-3C34-EEB7C40B18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DAEDA26C-ABF6-3AAE-C94C-CC836CF1F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5B988C9-BB64-DCA6-07B8-B79F1FB045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222CB0-5FF1-4E2B-B057-A7FA726952A0}" type="slidenum">
              <a:rPr lang="en-IN" smtClean="0"/>
              <a:t>‹#›</a:t>
            </a:fld>
            <a:endParaRPr lang="en-IN"/>
          </a:p>
        </p:txBody>
      </p:sp>
    </p:spTree>
    <p:extLst>
      <p:ext uri="{BB962C8B-B14F-4D97-AF65-F5344CB8AC3E}">
        <p14:creationId xmlns:p14="http://schemas.microsoft.com/office/powerpoint/2010/main" val="1809074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scielo.org.mx/scielo.php?script=sci_arttext&amp;pid=S1665-64232023000500886" TargetMode="External"/><Relationship Id="rId7" Type="http://schemas.openxmlformats.org/officeDocument/2006/relationships/hyperlink" Target="https://arxiv.org/pdf/1712.04344" TargetMode="External"/><Relationship Id="rId2" Type="http://schemas.openxmlformats.org/officeDocument/2006/relationships/hyperlink" Target="https://arxiv.org/abs/2212.03956" TargetMode="External"/><Relationship Id="rId1" Type="http://schemas.openxmlformats.org/officeDocument/2006/relationships/slideLayout" Target="../slideLayouts/slideLayout2.xml"/><Relationship Id="rId6" Type="http://schemas.openxmlformats.org/officeDocument/2006/relationships/hyperlink" Target="https://hindawi.com/journals/jat/2019/6125798" TargetMode="External"/><Relationship Id="rId5" Type="http://schemas.openxmlformats.org/officeDocument/2006/relationships/hyperlink" Target="https://urbanspatial.github.io/PublicPolicyAnalytics" TargetMode="External"/><Relationship Id="rId4" Type="http://schemas.openxmlformats.org/officeDocument/2006/relationships/hyperlink" Target="https://sciencedirect.com/science/article/abs/pii/S0739885926000351"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58331" y="278387"/>
            <a:ext cx="5829300" cy="1492194"/>
          </a:xfrm>
        </p:spPr>
        <p:txBody>
          <a:bodyPr>
            <a:normAutofit fontScale="90000"/>
          </a:bodyPr>
          <a:lstStyle/>
          <a:p>
            <a:pPr>
              <a:lnSpc>
                <a:spcPct val="60000"/>
              </a:lnSpc>
              <a:spcBef>
                <a:spcPts val="600"/>
              </a:spcBef>
              <a:spcAft>
                <a:spcPts val="600"/>
              </a:spcAft>
              <a:defRPr/>
            </a:pPr>
            <a:br>
              <a:rPr lang="en-US" sz="3100" b="1" dirty="0">
                <a:latin typeface="Times New Roman" pitchFamily="18" charset="0"/>
                <a:cs typeface="Times New Roman" pitchFamily="18" charset="0"/>
              </a:rPr>
            </a:br>
            <a:br>
              <a:rPr lang="en-US" sz="3100" b="1" dirty="0">
                <a:latin typeface="Times New Roman" pitchFamily="18" charset="0"/>
                <a:cs typeface="Times New Roman" pitchFamily="18" charset="0"/>
              </a:rPr>
            </a:br>
            <a:r>
              <a:rPr lang="en-IN" sz="3100" b="1" dirty="0">
                <a:solidFill>
                  <a:schemeClr val="tx2"/>
                </a:solidFill>
                <a:latin typeface="Times New Roman" panose="02020603050405020304" pitchFamily="18" charset="0"/>
                <a:cs typeface="Times New Roman" panose="02020603050405020304" pitchFamily="18" charset="0"/>
              </a:rPr>
              <a:t>Ride-Sharing Analytics Platform</a:t>
            </a:r>
            <a:r>
              <a:rPr lang="en-US" sz="3100" b="1" dirty="0">
                <a:solidFill>
                  <a:schemeClr val="tx2"/>
                </a:solidFill>
                <a:latin typeface="Times New Roman" panose="02020603050405020304" pitchFamily="18" charset="0"/>
                <a:cs typeface="Times New Roman" panose="02020603050405020304" pitchFamily="18" charset="0"/>
              </a:rPr>
              <a:t> </a:t>
            </a:r>
            <a:br>
              <a:rPr lang="en-US" sz="3100" b="1" dirty="0">
                <a:latin typeface="Times New Roman" panose="02020603050405020304" pitchFamily="18" charset="0"/>
                <a:cs typeface="Times New Roman" panose="02020603050405020304" pitchFamily="18" charset="0"/>
              </a:rPr>
            </a:br>
            <a:br>
              <a:rPr lang="en-US" sz="3100" b="1"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Review – 2</a:t>
            </a:r>
            <a:br>
              <a:rPr lang="en-US" sz="2200" b="1" dirty="0">
                <a:latin typeface="Times New Roman" panose="02020603050405020304" pitchFamily="18" charset="0"/>
                <a:cs typeface="Times New Roman" panose="02020603050405020304" pitchFamily="18" charset="0"/>
              </a:rPr>
            </a:br>
            <a:br>
              <a:rPr lang="en-US" sz="2200" b="1" dirty="0">
                <a:latin typeface="Times New Roman" panose="02020603050405020304" pitchFamily="18" charset="0"/>
                <a:cs typeface="Times New Roman" panose="02020603050405020304" pitchFamily="18" charset="0"/>
              </a:rPr>
            </a:br>
            <a:r>
              <a:rPr lang="en-US" sz="2400" b="1" dirty="0">
                <a:latin typeface="Times New Roman" pitchFamily="18" charset="0"/>
                <a:cs typeface="Times New Roman" pitchFamily="18" charset="0"/>
              </a:rPr>
              <a:t>Section No : 04</a:t>
            </a:r>
            <a:br>
              <a:rPr lang="en-US" sz="2400" b="1" dirty="0">
                <a:latin typeface="Times New Roman" pitchFamily="18" charset="0"/>
                <a:cs typeface="Times New Roman" pitchFamily="18" charset="0"/>
              </a:rPr>
            </a:br>
            <a:endParaRPr lang="en-US" sz="2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004369" y="1600384"/>
            <a:ext cx="6343650" cy="2190168"/>
          </a:xfrm>
        </p:spPr>
        <p:txBody>
          <a:bodyPr>
            <a:normAutofit fontScale="25000" lnSpcReduction="20000"/>
          </a:bodyPr>
          <a:lstStyle/>
          <a:p>
            <a:pPr>
              <a:lnSpc>
                <a:spcPct val="120000"/>
              </a:lnSpc>
              <a:spcBef>
                <a:spcPts val="200"/>
              </a:spcBef>
              <a:defRPr/>
            </a:pPr>
            <a:endParaRPr lang="en-US" sz="5600" b="1" dirty="0">
              <a:latin typeface="Times New Roman" pitchFamily="18" charset="0"/>
              <a:cs typeface="Times New Roman" pitchFamily="18" charset="0"/>
            </a:endParaRPr>
          </a:p>
          <a:p>
            <a:pPr>
              <a:lnSpc>
                <a:spcPct val="80000"/>
              </a:lnSpc>
              <a:spcBef>
                <a:spcPts val="200"/>
              </a:spcBef>
              <a:defRPr/>
            </a:pPr>
            <a:r>
              <a:rPr lang="en-US" sz="7200" b="1" dirty="0">
                <a:latin typeface="Times New Roman" pitchFamily="18" charset="0"/>
                <a:cs typeface="Times New Roman" pitchFamily="18" charset="0"/>
              </a:rPr>
              <a:t>TEAM NO  : 20</a:t>
            </a:r>
          </a:p>
          <a:p>
            <a:pPr>
              <a:lnSpc>
                <a:spcPct val="80000"/>
              </a:lnSpc>
              <a:spcBef>
                <a:spcPts val="200"/>
              </a:spcBef>
              <a:defRPr/>
            </a:pPr>
            <a:endParaRPr lang="en-US" sz="4900" b="1" dirty="0">
              <a:solidFill>
                <a:srgbClr val="00B0F0"/>
              </a:solidFill>
              <a:latin typeface="Times New Roman" pitchFamily="18" charset="0"/>
              <a:cs typeface="Times New Roman" pitchFamily="18" charset="0"/>
            </a:endParaRPr>
          </a:p>
          <a:p>
            <a:pPr>
              <a:lnSpc>
                <a:spcPct val="80000"/>
              </a:lnSpc>
              <a:spcBef>
                <a:spcPts val="200"/>
              </a:spcBef>
              <a:defRPr/>
            </a:pPr>
            <a:r>
              <a:rPr lang="en-US" sz="6400" dirty="0">
                <a:solidFill>
                  <a:srgbClr val="0D0D0D"/>
                </a:solidFill>
                <a:latin typeface="Times New Roman" panose="02020603050405020304" pitchFamily="18" charset="0"/>
                <a:cs typeface="Times New Roman" pitchFamily="18" charset="0"/>
              </a:rPr>
              <a:t>2420090101 – N DhanuSree</a:t>
            </a:r>
          </a:p>
          <a:p>
            <a:pPr>
              <a:lnSpc>
                <a:spcPct val="80000"/>
              </a:lnSpc>
              <a:spcBef>
                <a:spcPts val="200"/>
              </a:spcBef>
              <a:defRPr/>
            </a:pPr>
            <a:endParaRPr lang="en-US" sz="6400" dirty="0">
              <a:solidFill>
                <a:srgbClr val="0D0D0D"/>
              </a:solidFill>
              <a:latin typeface="Times New Roman" panose="02020603050405020304" pitchFamily="18" charset="0"/>
              <a:cs typeface="Times New Roman" pitchFamily="18" charset="0"/>
            </a:endParaRPr>
          </a:p>
          <a:p>
            <a:pPr>
              <a:lnSpc>
                <a:spcPct val="80000"/>
              </a:lnSpc>
              <a:spcBef>
                <a:spcPts val="200"/>
              </a:spcBef>
              <a:defRPr/>
            </a:pPr>
            <a:r>
              <a:rPr lang="en-US" sz="6400" dirty="0">
                <a:solidFill>
                  <a:srgbClr val="0D0D0D"/>
                </a:solidFill>
                <a:latin typeface="Times New Roman" panose="02020603050405020304" pitchFamily="18" charset="0"/>
                <a:cs typeface="Times New Roman" pitchFamily="18" charset="0"/>
              </a:rPr>
              <a:t>2420090032  - Y Viditha  </a:t>
            </a:r>
          </a:p>
          <a:p>
            <a:pPr>
              <a:lnSpc>
                <a:spcPct val="80000"/>
              </a:lnSpc>
              <a:spcBef>
                <a:spcPts val="200"/>
              </a:spcBef>
              <a:defRPr/>
            </a:pPr>
            <a:r>
              <a:rPr lang="en-US" sz="6400" dirty="0">
                <a:solidFill>
                  <a:srgbClr val="0D0D0D"/>
                </a:solidFill>
                <a:latin typeface="Times New Roman" panose="02020603050405020304" pitchFamily="18" charset="0"/>
                <a:cs typeface="Times New Roman" pitchFamily="18" charset="0"/>
              </a:rPr>
              <a:t>                       </a:t>
            </a:r>
          </a:p>
          <a:p>
            <a:pPr>
              <a:lnSpc>
                <a:spcPct val="80000"/>
              </a:lnSpc>
              <a:spcBef>
                <a:spcPts val="200"/>
              </a:spcBef>
              <a:defRPr/>
            </a:pPr>
            <a:r>
              <a:rPr lang="en-US" sz="6400" dirty="0">
                <a:solidFill>
                  <a:srgbClr val="0D0D0D"/>
                </a:solidFill>
                <a:latin typeface="Times New Roman" panose="02020603050405020304" pitchFamily="18" charset="0"/>
                <a:cs typeface="Times New Roman" pitchFamily="18" charset="0"/>
              </a:rPr>
              <a:t>2420030678  – G GopiKrishna</a:t>
            </a:r>
          </a:p>
          <a:p>
            <a:pPr>
              <a:lnSpc>
                <a:spcPct val="80000"/>
              </a:lnSpc>
              <a:defRPr/>
            </a:pPr>
            <a:endParaRPr lang="en-US" sz="4200" b="1" dirty="0">
              <a:solidFill>
                <a:srgbClr val="FF0000"/>
              </a:solidFill>
              <a:latin typeface="Times New Roman" pitchFamily="18" charset="0"/>
              <a:cs typeface="Times New Roman" pitchFamily="18" charset="0"/>
            </a:endParaRPr>
          </a:p>
          <a:p>
            <a:pPr>
              <a:lnSpc>
                <a:spcPct val="80000"/>
              </a:lnSpc>
              <a:defRPr/>
            </a:pPr>
            <a:r>
              <a:rPr lang="en-GB" sz="5200" b="1" i="1" dirty="0">
                <a:solidFill>
                  <a:srgbClr val="FF0000"/>
                </a:solidFill>
                <a:latin typeface="Times New Roman" panose="02020603050405020304" pitchFamily="18" charset="0"/>
                <a:ea typeface="Times New Roman" panose="02020603050405020304" pitchFamily="18" charset="0"/>
              </a:rPr>
              <a:t>Under the guidance of </a:t>
            </a:r>
          </a:p>
          <a:p>
            <a:pPr>
              <a:lnSpc>
                <a:spcPct val="80000"/>
              </a:lnSpc>
              <a:defRPr/>
            </a:pPr>
            <a:endParaRPr lang="en-US" sz="6400" dirty="0">
              <a:solidFill>
                <a:srgbClr val="0D0D0D"/>
              </a:solidFill>
              <a:latin typeface="Times New Roman" pitchFamily="18" charset="0"/>
              <a:cs typeface="Times New Roman" pitchFamily="18" charset="0"/>
            </a:endParaRPr>
          </a:p>
          <a:p>
            <a:pPr>
              <a:lnSpc>
                <a:spcPct val="80000"/>
              </a:lnSpc>
              <a:defRPr/>
            </a:pPr>
            <a:r>
              <a:rPr lang="en-US" sz="7200" b="1" dirty="0">
                <a:latin typeface="Times New Roman" panose="02020603050405020304" pitchFamily="18" charset="0"/>
                <a:cs typeface="Times New Roman" panose="02020603050405020304" pitchFamily="18" charset="0"/>
              </a:rPr>
              <a:t>Dr. NALLA SIRISHA </a:t>
            </a:r>
          </a:p>
          <a:p>
            <a:pPr>
              <a:lnSpc>
                <a:spcPct val="80000"/>
              </a:lnSpc>
              <a:defRPr/>
            </a:pPr>
            <a:r>
              <a:rPr lang="en-US" sz="7200" b="1" dirty="0">
                <a:latin typeface="Times New Roman" panose="02020603050405020304" pitchFamily="18" charset="0"/>
                <a:cs typeface="Times New Roman" panose="02020603050405020304" pitchFamily="18" charset="0"/>
              </a:rPr>
              <a:t>Associate Professor </a:t>
            </a:r>
          </a:p>
          <a:p>
            <a:pPr>
              <a:lnSpc>
                <a:spcPct val="80000"/>
              </a:lnSpc>
              <a:defRPr/>
            </a:pPr>
            <a:endParaRPr lang="en-US" sz="4200" b="1" dirty="0">
              <a:latin typeface="Times New Roman" panose="02020603050405020304" pitchFamily="18" charset="0"/>
              <a:cs typeface="Times New Roman" panose="02020603050405020304" pitchFamily="18" charset="0"/>
            </a:endParaRPr>
          </a:p>
          <a:p>
            <a:pPr>
              <a:lnSpc>
                <a:spcPct val="80000"/>
              </a:lnSpc>
              <a:defRPr/>
            </a:pPr>
            <a:r>
              <a:rPr lang="en-US" sz="4200" b="1" dirty="0">
                <a:solidFill>
                  <a:srgbClr val="0070C0"/>
                </a:solidFill>
                <a:latin typeface="Times New Roman" pitchFamily="18" charset="0"/>
                <a:cs typeface="Times New Roman" pitchFamily="18" charset="0"/>
              </a:rPr>
              <a:t>Department of Computer Science and Engineering</a:t>
            </a:r>
          </a:p>
          <a:p>
            <a:pPr>
              <a:lnSpc>
                <a:spcPct val="80000"/>
              </a:lnSpc>
              <a:defRPr/>
            </a:pPr>
            <a:r>
              <a:rPr lang="en-US" sz="4200" b="1" dirty="0">
                <a:solidFill>
                  <a:srgbClr val="0D0D0D"/>
                </a:solidFill>
                <a:latin typeface="Times New Roman" pitchFamily="18" charset="0"/>
                <a:cs typeface="Times New Roman" pitchFamily="18" charset="0"/>
              </a:rPr>
              <a:t>                                                </a:t>
            </a:r>
            <a:r>
              <a:rPr lang="en-US" sz="4200" dirty="0">
                <a:solidFill>
                  <a:srgbClr val="0D0D0D"/>
                </a:solidFill>
                <a:latin typeface="Times New Roman" pitchFamily="18" charset="0"/>
                <a:cs typeface="Times New Roman" pitchFamily="18" charset="0"/>
              </a:rPr>
              <a:t>                              </a:t>
            </a:r>
            <a:r>
              <a:rPr lang="en-US" sz="18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2838450" y="5610868"/>
            <a:ext cx="6858000" cy="1047403"/>
          </a:xfrm>
          <a:prstGeom prst="rect">
            <a:avLst/>
          </a:prstGeom>
          <a:noFill/>
        </p:spPr>
        <p:txBody>
          <a:bodyPr wrap="square">
            <a:spAutoFit/>
          </a:bodyPr>
          <a:lstStyle/>
          <a:p>
            <a:pPr algn="ctr">
              <a:lnSpc>
                <a:spcPct val="107000"/>
              </a:lnSpc>
              <a:spcBef>
                <a:spcPts val="1166"/>
              </a:spcBef>
              <a:spcAft>
                <a:spcPts val="600"/>
              </a:spcAft>
            </a:pP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Koneru Lakshmaiah Education Foundation</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(Deemed to be University estd. u/s. 3 of the UGC Act, 1956)</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Off-Campus: Bachupally-Gandimaisamma Road, Bowrampet, Hyderabad, Telangana - 500 043.</a:t>
            </a:r>
            <a:b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200" b="1" u="sng" kern="100" dirty="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200"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9955" y="4757114"/>
            <a:ext cx="1874990" cy="939785"/>
          </a:xfrm>
          <a:prstGeom prst="rect">
            <a:avLst/>
          </a:prstGeom>
          <a:noFill/>
          <a:ln>
            <a:noFill/>
          </a:ln>
        </p:spPr>
      </p:pic>
      <p:pic>
        <p:nvPicPr>
          <p:cNvPr id="6" name="Picture 5">
            <a:extLst>
              <a:ext uri="{FF2B5EF4-FFF2-40B4-BE49-F238E27FC236}">
                <a16:creationId xmlns:a16="http://schemas.microsoft.com/office/drawing/2014/main" id="{52812A92-25D5-E049-7FEF-06CDECA037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874990" cy="9397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9000F-F1BD-E613-820F-D1F8E8E65E75}"/>
              </a:ext>
            </a:extLst>
          </p:cNvPr>
          <p:cNvSpPr>
            <a:spLocks noGrp="1"/>
          </p:cNvSpPr>
          <p:nvPr>
            <p:ph type="title"/>
          </p:nvPr>
        </p:nvSpPr>
        <p:spPr>
          <a:xfrm>
            <a:off x="3770671" y="232680"/>
            <a:ext cx="8229600" cy="1143000"/>
          </a:xfrm>
        </p:spPr>
        <p:txBody>
          <a:bodyPr/>
          <a:lstStyle/>
          <a:p>
            <a:r>
              <a:rPr lang="en-US" dirty="0">
                <a:latin typeface="Times New Roman" panose="02020603050405020304" pitchFamily="18" charset="0"/>
                <a:cs typeface="Times New Roman" panose="02020603050405020304" pitchFamily="18" charset="0"/>
              </a:rPr>
              <a:t>Table of Contents</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D15B7CB-5703-360E-5EFA-6C813477C3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74990" cy="939785"/>
          </a:xfrm>
          <a:prstGeom prst="rect">
            <a:avLst/>
          </a:prstGeom>
          <a:noFill/>
          <a:ln>
            <a:noFill/>
          </a:ln>
        </p:spPr>
      </p:pic>
      <p:sp>
        <p:nvSpPr>
          <p:cNvPr id="8" name="TextBox 7">
            <a:extLst>
              <a:ext uri="{FF2B5EF4-FFF2-40B4-BE49-F238E27FC236}">
                <a16:creationId xmlns:a16="http://schemas.microsoft.com/office/drawing/2014/main" id="{8D6F5C32-01B2-BBA6-DC38-CAAD2E3FC292}"/>
              </a:ext>
            </a:extLst>
          </p:cNvPr>
          <p:cNvSpPr txBox="1"/>
          <p:nvPr/>
        </p:nvSpPr>
        <p:spPr>
          <a:xfrm>
            <a:off x="1246239" y="1483836"/>
            <a:ext cx="6235137" cy="1938992"/>
          </a:xfrm>
          <a:prstGeom prst="rect">
            <a:avLst/>
          </a:prstGeom>
          <a:noFill/>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Abstract</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Introduction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Objectives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Literature Survey</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System architecture</a:t>
            </a:r>
          </a:p>
        </p:txBody>
      </p:sp>
    </p:spTree>
    <p:extLst>
      <p:ext uri="{BB962C8B-B14F-4D97-AF65-F5344CB8AC3E}">
        <p14:creationId xmlns:p14="http://schemas.microsoft.com/office/powerpoint/2010/main" val="3993124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3620" y="233516"/>
            <a:ext cx="8229600" cy="1143000"/>
          </a:xfrm>
        </p:spPr>
        <p:txBody>
          <a:bodyPr>
            <a:normAutofit/>
          </a:bodyPr>
          <a:lstStyle/>
          <a:p>
            <a:pPr algn="just"/>
            <a:r>
              <a:rPr lang="en-US" sz="4000" b="1" dirty="0">
                <a:latin typeface="Times New Roman" pitchFamily="18" charset="0"/>
                <a:cs typeface="Times New Roman" pitchFamily="18" charset="0"/>
              </a:rPr>
              <a:t>Abstract</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a:xfrm>
            <a:off x="1091381" y="1226574"/>
            <a:ext cx="10156722" cy="4404852"/>
          </a:xfrm>
        </p:spPr>
        <p:txBody>
          <a:bodyPr>
            <a:noAutofit/>
          </a:bodyPr>
          <a:lstStyle/>
          <a:p>
            <a:pPr marL="0" indent="0">
              <a:buNone/>
            </a:pPr>
            <a:r>
              <a:rPr lang="en-IN" sz="2000" dirty="0">
                <a:latin typeface="Times New Roman" panose="02020603050405020304" pitchFamily="18" charset="0"/>
                <a:cs typeface="Times New Roman" panose="02020603050405020304" pitchFamily="18" charset="0"/>
              </a:rPr>
              <a:t>The rapid growth of ride-sharing platforms like Uber has made data-driven decision-making essential for improving service efficiency and customer experience in urban transportation. This project, "Ride-Sharing Analytics Platform," proposes an Uber-like system that stores trip information, calculates peak traffic hours, tracks driver performance, and predicts future ride demand. The platform is built using Python for data processing, PostgreSQL for structured storage, Apache Kafka for real-time streaming, Apache Airflow for ETL pipeline orchestration, Docker for containerized deployment, and Power BI for interactive dashboard visualization. By automating data collection and transformation through scalable ETL pipelines, the system delivers actionable insights on demand patterns, traffic trends, and driver performance, supporting better fleet management and pricing decisions. Through this project, practical skills are gained in ETL pipeline development, database management, data warehousing, and dashboard design — key competencies for real-world data engineering roles.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1" y="0"/>
            <a:ext cx="1688690" cy="88423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7929" y="80902"/>
            <a:ext cx="8229600" cy="1143000"/>
          </a:xfrm>
        </p:spPr>
        <p:txBody>
          <a:bodyPr>
            <a:normAutofit/>
          </a:bodyPr>
          <a:lstStyle/>
          <a:p>
            <a:pPr algn="just"/>
            <a:r>
              <a:rPr lang="en-US" sz="4000" b="1" dirty="0">
                <a:latin typeface="Times New Roman" panose="02020603050405020304" pitchFamily="18" charset="0"/>
                <a:cs typeface="Times New Roman" panose="02020603050405020304" pitchFamily="18" charset="0"/>
              </a:rPr>
              <a:t>Introduction</a:t>
            </a:r>
            <a:r>
              <a:rPr lang="en-US" sz="4000" dirty="0">
                <a:latin typeface="Times New Roman" panose="02020603050405020304" pitchFamily="18" charset="0"/>
                <a:cs typeface="Times New Roman" panose="02020603050405020304" pitchFamily="18" charset="0"/>
              </a:rPr>
              <a:t> </a:t>
            </a:r>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995517" y="1223902"/>
            <a:ext cx="10596715" cy="5437239"/>
          </a:xfrm>
        </p:spPr>
        <p:txBody>
          <a:bodyPr>
            <a:noAutofit/>
          </a:bodyPr>
          <a:lstStyle/>
          <a:p>
            <a:pPr algn="just"/>
            <a:r>
              <a:rPr lang="en-IN" sz="2000" dirty="0">
                <a:latin typeface="Times New Roman" panose="02020603050405020304" pitchFamily="18" charset="0"/>
                <a:cs typeface="Times New Roman" panose="02020603050405020304" pitchFamily="18" charset="0"/>
              </a:rPr>
              <a:t>The emergence of ride-sharing platforms has significantly reshaped urban mobility, offering passengers a convenient, technology-driven alternative to traditional modes of transportation.</a:t>
            </a:r>
          </a:p>
          <a:p>
            <a:pPr algn="just"/>
            <a:r>
              <a:rPr lang="en-IN" sz="2000" dirty="0">
                <a:latin typeface="Times New Roman" panose="02020603050405020304" pitchFamily="18" charset="0"/>
                <a:cs typeface="Times New Roman" panose="02020603050405020304" pitchFamily="18" charset="0"/>
              </a:rPr>
              <a:t>These platforms generate massive volumes of data daily — including trip requests, real-time driver locations, fare details, and user behavior patterns — making efficient data analysis critical for service improvement.</a:t>
            </a:r>
          </a:p>
          <a:p>
            <a:pPr algn="just"/>
            <a:r>
              <a:rPr lang="en-IN" sz="2000" dirty="0">
                <a:latin typeface="Times New Roman" panose="02020603050405020304" pitchFamily="18" charset="0"/>
                <a:cs typeface="Times New Roman" panose="02020603050405020304" pitchFamily="18" charset="0"/>
              </a:rPr>
              <a:t>Despite this abundance of data, many platforms lack a structured analytical framework to convert raw data into actionable business insights.</a:t>
            </a:r>
          </a:p>
          <a:p>
            <a:pPr algn="just"/>
            <a:r>
              <a:rPr lang="en-IN" sz="2000" dirty="0">
                <a:latin typeface="Times New Roman" panose="02020603050405020304" pitchFamily="18" charset="0"/>
                <a:cs typeface="Times New Roman" panose="02020603050405020304" pitchFamily="18" charset="0"/>
              </a:rPr>
              <a:t>Common operational challenges include inconsistent driver availability during peak hours, inefficient route allocation, and unpredictable fare surges, all of which affect customer satisfaction and platform reliability.</a:t>
            </a:r>
          </a:p>
          <a:p>
            <a:pPr algn="just"/>
            <a:r>
              <a:rPr lang="en-IN" sz="2000" dirty="0">
                <a:latin typeface="Times New Roman" panose="02020603050405020304" pitchFamily="18" charset="0"/>
                <a:cs typeface="Times New Roman" panose="02020603050405020304" pitchFamily="18" charset="0"/>
              </a:rPr>
              <a:t>This project addresses these challenges by developing a Ride-Sharing Analytics Platform that processes trip data through automated pipelines to generate insights on demand, traffic, and driver performance.</a:t>
            </a:r>
          </a:p>
          <a:p>
            <a:pPr algn="just"/>
            <a:r>
              <a:rPr lang="en-IN" sz="2000" dirty="0">
                <a:latin typeface="Times New Roman" panose="02020603050405020304" pitchFamily="18" charset="0"/>
                <a:cs typeface="Times New Roman" panose="02020603050405020304" pitchFamily="18" charset="0"/>
              </a:rPr>
              <a:t>The system leverages modern data engineering tools to deliver a scalable, real-time analytics solution that supports informed, data-driven decision-making</a:t>
            </a:r>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1371F-32E3-E199-7CB7-205DF928BB27}"/>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Objectives</a:t>
            </a:r>
            <a:endParaRPr lang="en-US" sz="4000" dirty="0"/>
          </a:p>
        </p:txBody>
      </p:sp>
      <p:sp>
        <p:nvSpPr>
          <p:cNvPr id="3" name="Content Placeholder 2">
            <a:extLst>
              <a:ext uri="{FF2B5EF4-FFF2-40B4-BE49-F238E27FC236}">
                <a16:creationId xmlns:a16="http://schemas.microsoft.com/office/drawing/2014/main" id="{9E73EB7B-A5AD-3A16-3988-13BBBAB9D220}"/>
              </a:ext>
            </a:extLst>
          </p:cNvPr>
          <p:cNvSpPr>
            <a:spLocks noGrp="1"/>
          </p:cNvSpPr>
          <p:nvPr>
            <p:ph idx="1"/>
          </p:nvPr>
        </p:nvSpPr>
        <p:spPr/>
        <p:txBody>
          <a:bodyPr>
            <a:normAutofit fontScale="77500" lnSpcReduction="20000"/>
          </a:bodyPr>
          <a:lstStyle/>
          <a:p>
            <a:pPr lvl="0" algn="just"/>
            <a:r>
              <a:rPr lang="en-US" dirty="0">
                <a:latin typeface="Times New Roman" panose="02020603050405020304" pitchFamily="18" charset="0"/>
                <a:cs typeface="Times New Roman" panose="02020603050405020304" pitchFamily="18" charset="0"/>
              </a:rPr>
              <a:t>To design and develop a data analytics platform that stores comprehensive ride-sharing trip information (pickup/drop location, fare, duration)</a:t>
            </a:r>
          </a:p>
          <a:p>
            <a:pPr lvl="0" algn="just"/>
            <a:r>
              <a:rPr lang="en-US" dirty="0">
                <a:latin typeface="Times New Roman" panose="02020603050405020304" pitchFamily="18" charset="0"/>
                <a:cs typeface="Times New Roman" panose="02020603050405020304" pitchFamily="18" charset="0"/>
              </a:rPr>
              <a:t>To calculate and visualize peak traffic hours across different zones for better fleet planning</a:t>
            </a:r>
          </a:p>
          <a:p>
            <a:pPr lvl="0" algn="just"/>
            <a:r>
              <a:rPr lang="en-US" dirty="0">
                <a:latin typeface="Times New Roman" panose="02020603050405020304" pitchFamily="18" charset="0"/>
                <a:cs typeface="Times New Roman" panose="02020603050405020304" pitchFamily="18" charset="0"/>
              </a:rPr>
              <a:t>To build a module for tracking and evaluating individual driver performance</a:t>
            </a:r>
          </a:p>
          <a:p>
            <a:pPr lvl="0" algn="just"/>
            <a:r>
              <a:rPr lang="en-US" dirty="0">
                <a:latin typeface="Times New Roman" panose="02020603050405020304" pitchFamily="18" charset="0"/>
                <a:cs typeface="Times New Roman" panose="02020603050405020304" pitchFamily="18" charset="0"/>
              </a:rPr>
              <a:t>To implement a predictive model that forecasts future ride demand using historical data</a:t>
            </a:r>
          </a:p>
          <a:p>
            <a:pPr lvl="0" algn="just"/>
            <a:r>
              <a:rPr lang="en-US" dirty="0">
                <a:latin typeface="Times New Roman" panose="02020603050405020304" pitchFamily="18" charset="0"/>
                <a:cs typeface="Times New Roman" panose="02020603050405020304" pitchFamily="18" charset="0"/>
              </a:rPr>
              <a:t>To build automated ETL pipelines using Apache Airflow for reliable, scheduled data processing</a:t>
            </a:r>
          </a:p>
          <a:p>
            <a:pPr lvl="0" algn="just"/>
            <a:r>
              <a:rPr lang="en-US" dirty="0">
                <a:latin typeface="Times New Roman" panose="02020603050405020304" pitchFamily="18" charset="0"/>
                <a:cs typeface="Times New Roman" panose="02020603050405020304" pitchFamily="18" charset="0"/>
              </a:rPr>
              <a:t>To enable real-time data ingestion using Apache Kafka for continuous trip event streaming</a:t>
            </a:r>
          </a:p>
          <a:p>
            <a:pPr lvl="0" algn="just"/>
            <a:r>
              <a:rPr lang="en-US" dirty="0">
                <a:latin typeface="Times New Roman" panose="02020603050405020304" pitchFamily="18" charset="0"/>
                <a:cs typeface="Times New Roman" panose="02020603050405020304" pitchFamily="18" charset="0"/>
              </a:rPr>
              <a:t>To containerize the entire application using Docker for consistent, scalable deployment</a:t>
            </a:r>
          </a:p>
          <a:p>
            <a:pPr lvl="0" algn="just"/>
            <a:r>
              <a:rPr lang="en-US" dirty="0">
                <a:latin typeface="Times New Roman" panose="02020603050405020304" pitchFamily="18" charset="0"/>
                <a:cs typeface="Times New Roman" panose="02020603050405020304" pitchFamily="18" charset="0"/>
              </a:rPr>
              <a:t>To present all insights through an interactive Power BI dashboard for data-driven decision-making</a:t>
            </a:r>
          </a:p>
          <a:p>
            <a:pPr algn="just"/>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B83E25D-E7F5-1A40-F84D-3D282FF569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2077106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287B0-17A0-F7EC-1A72-52A5C87B14AB}"/>
              </a:ext>
            </a:extLst>
          </p:cNvPr>
          <p:cNvSpPr>
            <a:spLocks noGrp="1"/>
          </p:cNvSpPr>
          <p:nvPr>
            <p:ph type="title"/>
          </p:nvPr>
        </p:nvSpPr>
        <p:spPr>
          <a:xfrm>
            <a:off x="617481" y="0"/>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Literature Survey</a:t>
            </a:r>
            <a:endParaRPr lang="en-US" sz="4000" dirty="0"/>
          </a:p>
        </p:txBody>
      </p:sp>
      <p:graphicFrame>
        <p:nvGraphicFramePr>
          <p:cNvPr id="6" name="Content Placeholder 5">
            <a:extLst>
              <a:ext uri="{FF2B5EF4-FFF2-40B4-BE49-F238E27FC236}">
                <a16:creationId xmlns:a16="http://schemas.microsoft.com/office/drawing/2014/main" id="{7CB81009-8AD0-0F45-D92A-B6B7673E5C01}"/>
              </a:ext>
            </a:extLst>
          </p:cNvPr>
          <p:cNvGraphicFramePr>
            <a:graphicFrameLocks noGrp="1"/>
          </p:cNvGraphicFramePr>
          <p:nvPr>
            <p:ph idx="1"/>
            <p:extLst>
              <p:ext uri="{D42A27DB-BD31-4B8C-83A1-F6EECF244321}">
                <p14:modId xmlns:p14="http://schemas.microsoft.com/office/powerpoint/2010/main" val="442055571"/>
              </p:ext>
            </p:extLst>
          </p:nvPr>
        </p:nvGraphicFramePr>
        <p:xfrm>
          <a:off x="1058919" y="1074146"/>
          <a:ext cx="10074162" cy="5454167"/>
        </p:xfrm>
        <a:graphic>
          <a:graphicData uri="http://schemas.openxmlformats.org/drawingml/2006/table">
            <a:tbl>
              <a:tblPr firstRow="1" bandRow="1">
                <a:tableStyleId>{5C22544A-7EE6-4342-B048-85BDC9FD1C3A}</a:tableStyleId>
              </a:tblPr>
              <a:tblGrid>
                <a:gridCol w="635579">
                  <a:extLst>
                    <a:ext uri="{9D8B030D-6E8A-4147-A177-3AD203B41FA5}">
                      <a16:colId xmlns:a16="http://schemas.microsoft.com/office/drawing/2014/main" val="1798293898"/>
                    </a:ext>
                  </a:extLst>
                </a:gridCol>
                <a:gridCol w="2722841">
                  <a:extLst>
                    <a:ext uri="{9D8B030D-6E8A-4147-A177-3AD203B41FA5}">
                      <a16:colId xmlns:a16="http://schemas.microsoft.com/office/drawing/2014/main" val="4020743721"/>
                    </a:ext>
                  </a:extLst>
                </a:gridCol>
                <a:gridCol w="1832397">
                  <a:extLst>
                    <a:ext uri="{9D8B030D-6E8A-4147-A177-3AD203B41FA5}">
                      <a16:colId xmlns:a16="http://schemas.microsoft.com/office/drawing/2014/main" val="1973134303"/>
                    </a:ext>
                  </a:extLst>
                </a:gridCol>
                <a:gridCol w="1993133">
                  <a:extLst>
                    <a:ext uri="{9D8B030D-6E8A-4147-A177-3AD203B41FA5}">
                      <a16:colId xmlns:a16="http://schemas.microsoft.com/office/drawing/2014/main" val="2625473045"/>
                    </a:ext>
                  </a:extLst>
                </a:gridCol>
                <a:gridCol w="2890212">
                  <a:extLst>
                    <a:ext uri="{9D8B030D-6E8A-4147-A177-3AD203B41FA5}">
                      <a16:colId xmlns:a16="http://schemas.microsoft.com/office/drawing/2014/main" val="2322247153"/>
                    </a:ext>
                  </a:extLst>
                </a:gridCol>
              </a:tblGrid>
              <a:tr h="348767">
                <a:tc>
                  <a:txBody>
                    <a:bodyPr/>
                    <a:lstStyle/>
                    <a:p>
                      <a:pPr algn="ctr"/>
                      <a:r>
                        <a:rPr lang="en-US" sz="1600" dirty="0" err="1">
                          <a:latin typeface="Times New Roman" panose="02020603050405020304" pitchFamily="18" charset="0"/>
                          <a:cs typeface="Times New Roman" panose="02020603050405020304" pitchFamily="18" charset="0"/>
                        </a:rPr>
                        <a:t>S.No</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t>Research paper</a:t>
                      </a:r>
                    </a:p>
                  </a:txBody>
                  <a:tcPr/>
                </a:tc>
                <a:tc>
                  <a:txBody>
                    <a:bodyPr/>
                    <a:lstStyle/>
                    <a:p>
                      <a:pPr algn="ctr"/>
                      <a:r>
                        <a:rPr lang="en-US" sz="1600" dirty="0"/>
                        <a:t>Author(s)</a:t>
                      </a:r>
                    </a:p>
                  </a:txBody>
                  <a:tcPr/>
                </a:tc>
                <a:tc>
                  <a:txBody>
                    <a:bodyPr/>
                    <a:lstStyle/>
                    <a:p>
                      <a:pPr algn="ctr"/>
                      <a:r>
                        <a:rPr lang="en-US" sz="1600" dirty="0"/>
                        <a:t>Link</a:t>
                      </a:r>
                    </a:p>
                  </a:txBody>
                  <a:tcPr/>
                </a:tc>
                <a:tc>
                  <a:txBody>
                    <a:bodyPr/>
                    <a:lstStyle/>
                    <a:p>
                      <a:pPr algn="ctr"/>
                      <a:r>
                        <a:rPr lang="en-US" sz="1600" dirty="0"/>
                        <a:t>Drawback</a:t>
                      </a:r>
                    </a:p>
                  </a:txBody>
                  <a:tcPr/>
                </a:tc>
                <a:extLst>
                  <a:ext uri="{0D108BD9-81ED-4DB2-BD59-A6C34878D82A}">
                    <a16:rowId xmlns:a16="http://schemas.microsoft.com/office/drawing/2014/main" val="1173974208"/>
                  </a:ext>
                </a:extLst>
              </a:tr>
              <a:tr h="644981">
                <a:tc>
                  <a:txBody>
                    <a:bodyPr/>
                    <a:lstStyle/>
                    <a:p>
                      <a:pPr algn="just"/>
                      <a:r>
                        <a:rPr lang="en-US" sz="1300" dirty="0">
                          <a:latin typeface="Times New Roman" panose="02020603050405020304" pitchFamily="18" charset="0"/>
                          <a:cs typeface="Times New Roman" panose="02020603050405020304" pitchFamily="18" charset="0"/>
                        </a:rPr>
                        <a:t>1.</a:t>
                      </a:r>
                    </a:p>
                  </a:txBody>
                  <a:tcPr/>
                </a:tc>
                <a:tc>
                  <a:txBody>
                    <a:bodyPr/>
                    <a:lstStyle/>
                    <a:p>
                      <a:pPr algn="just"/>
                      <a:r>
                        <a:rPr lang="en-US" sz="1300" dirty="0">
                          <a:latin typeface="Times New Roman" panose="02020603050405020304" pitchFamily="18" charset="0"/>
                          <a:cs typeface="Times New Roman" panose="02020603050405020304" pitchFamily="18" charset="0"/>
                        </a:rPr>
                        <a:t>Short-term prediction of demand for ride-hailing services: A deep learning approach (</a:t>
                      </a:r>
                      <a:r>
                        <a:rPr lang="en-US" sz="1300" dirty="0" err="1">
                          <a:latin typeface="Times New Roman" panose="02020603050405020304" pitchFamily="18" charset="0"/>
                          <a:cs typeface="Times New Roman" panose="02020603050405020304" pitchFamily="18" charset="0"/>
                        </a:rPr>
                        <a:t>UberNet</a:t>
                      </a:r>
                      <a:r>
                        <a:rPr lang="en-US" sz="1300" dirty="0">
                          <a:latin typeface="Times New Roman" panose="02020603050405020304" pitchFamily="18" charset="0"/>
                          <a:cs typeface="Times New Roman" panose="02020603050405020304" pitchFamily="18" charset="0"/>
                        </a:rPr>
                        <a:t>)</a:t>
                      </a:r>
                    </a:p>
                  </a:txBody>
                  <a:tcPr/>
                </a:tc>
                <a:tc>
                  <a:txBody>
                    <a:bodyPr/>
                    <a:lstStyle/>
                    <a:p>
                      <a:pPr algn="l"/>
                      <a:r>
                        <a:rPr lang="en-US" sz="1300" dirty="0">
                          <a:latin typeface="Times New Roman" panose="02020603050405020304" pitchFamily="18" charset="0"/>
                          <a:cs typeface="Times New Roman" panose="02020603050405020304" pitchFamily="18" charset="0"/>
                        </a:rPr>
                        <a:t>Long Chen et al.</a:t>
                      </a:r>
                    </a:p>
                  </a:txBody>
                  <a:tcPr/>
                </a:tc>
                <a:tc>
                  <a:txBody>
                    <a:bodyPr/>
                    <a:lstStyle/>
                    <a:p>
                      <a:r>
                        <a:rPr lang="en-US" sz="1300" dirty="0">
                          <a:latin typeface="Times New Roman" panose="02020603050405020304" pitchFamily="18" charset="0"/>
                          <a:cs typeface="Times New Roman" panose="02020603050405020304" pitchFamily="18" charset="0"/>
                          <a:hlinkClick r:id="rId2"/>
                        </a:rPr>
                        <a:t>https://arxiv.org/abs/2212.03956</a:t>
                      </a:r>
                      <a:endParaRPr lang="en-US" sz="1300" dirty="0">
                        <a:latin typeface="Times New Roman" panose="02020603050405020304" pitchFamily="18" charset="0"/>
                        <a:cs typeface="Times New Roman" panose="02020603050405020304" pitchFamily="18" charset="0"/>
                      </a:endParaRPr>
                    </a:p>
                  </a:txBody>
                  <a:tcPr/>
                </a:tc>
                <a:tc>
                  <a:txBody>
                    <a:bodyPr/>
                    <a:lstStyle/>
                    <a:p>
                      <a:pPr algn="just"/>
                      <a:r>
                        <a:rPr lang="en-US" sz="1300" dirty="0">
                          <a:latin typeface="Times New Roman" panose="02020603050405020304" pitchFamily="18" charset="0"/>
                          <a:cs typeface="Times New Roman" panose="02020603050405020304" pitchFamily="18" charset="0"/>
                        </a:rPr>
                        <a:t>Trained on NYC-specific data; may not generalize well to other cities with different traffic patterns</a:t>
                      </a:r>
                    </a:p>
                  </a:txBody>
                  <a:tcPr/>
                </a:tc>
                <a:extLst>
                  <a:ext uri="{0D108BD9-81ED-4DB2-BD59-A6C34878D82A}">
                    <a16:rowId xmlns:a16="http://schemas.microsoft.com/office/drawing/2014/main" val="3264953539"/>
                  </a:ext>
                </a:extLst>
              </a:tr>
              <a:tr h="644981">
                <a:tc>
                  <a:txBody>
                    <a:bodyPr/>
                    <a:lstStyle/>
                    <a:p>
                      <a:pPr algn="just"/>
                      <a:r>
                        <a:rPr lang="en-US" sz="1300" dirty="0">
                          <a:latin typeface="Times New Roman" panose="02020603050405020304" pitchFamily="18" charset="0"/>
                          <a:cs typeface="Times New Roman" panose="02020603050405020304" pitchFamily="18" charset="0"/>
                        </a:rPr>
                        <a:t>2.</a:t>
                      </a:r>
                    </a:p>
                  </a:txBody>
                  <a:tcPr/>
                </a:tc>
                <a:tc>
                  <a:txBody>
                    <a:bodyPr/>
                    <a:lstStyle/>
                    <a:p>
                      <a:pPr algn="just"/>
                      <a:r>
                        <a:rPr lang="en-US" sz="1300" dirty="0">
                          <a:latin typeface="Times New Roman" panose="02020603050405020304" pitchFamily="18" charset="0"/>
                          <a:cs typeface="Times New Roman" panose="02020603050405020304" pitchFamily="18" charset="0"/>
                        </a:rPr>
                        <a:t>Analysis and prediction of New York City taxi and Uber demands</a:t>
                      </a:r>
                    </a:p>
                  </a:txBody>
                  <a:tcPr/>
                </a:tc>
                <a:tc>
                  <a:txBody>
                    <a:bodyPr/>
                    <a:lstStyle/>
                    <a:p>
                      <a:r>
                        <a:rPr lang="en-US" sz="1300" dirty="0">
                          <a:latin typeface="Times New Roman" panose="02020603050405020304" pitchFamily="18" charset="0"/>
                          <a:cs typeface="Times New Roman" panose="02020603050405020304" pitchFamily="18" charset="0"/>
                        </a:rPr>
                        <a:t>(NYC study, published in scielo.org.mx)</a:t>
                      </a:r>
                    </a:p>
                  </a:txBody>
                  <a:tcPr/>
                </a:tc>
                <a:tc>
                  <a:txBody>
                    <a:bodyPr/>
                    <a:lstStyle/>
                    <a:p>
                      <a:r>
                        <a:rPr lang="en-US" sz="1300" dirty="0">
                          <a:latin typeface="Times New Roman" panose="02020603050405020304" pitchFamily="18" charset="0"/>
                          <a:cs typeface="Times New Roman" panose="02020603050405020304" pitchFamily="18" charset="0"/>
                          <a:hlinkClick r:id="rId3"/>
                        </a:rPr>
                        <a:t>scielo.org.mx/</a:t>
                      </a:r>
                      <a:r>
                        <a:rPr lang="en-US" sz="1300" dirty="0" err="1">
                          <a:latin typeface="Times New Roman" panose="02020603050405020304" pitchFamily="18" charset="0"/>
                          <a:cs typeface="Times New Roman" panose="02020603050405020304" pitchFamily="18" charset="0"/>
                          <a:hlinkClick r:id="rId3"/>
                        </a:rPr>
                        <a:t>scielo.php?script</a:t>
                      </a:r>
                      <a:r>
                        <a:rPr lang="en-US" sz="1300" dirty="0">
                          <a:latin typeface="Times New Roman" panose="02020603050405020304" pitchFamily="18" charset="0"/>
                          <a:cs typeface="Times New Roman" panose="02020603050405020304" pitchFamily="18" charset="0"/>
                          <a:hlinkClick r:id="rId3"/>
                        </a:rPr>
                        <a:t>=</a:t>
                      </a:r>
                      <a:r>
                        <a:rPr lang="en-US" sz="1300" dirty="0" err="1">
                          <a:latin typeface="Times New Roman" panose="02020603050405020304" pitchFamily="18" charset="0"/>
                          <a:cs typeface="Times New Roman" panose="02020603050405020304" pitchFamily="18" charset="0"/>
                          <a:hlinkClick r:id="rId3"/>
                        </a:rPr>
                        <a:t>sci_arttext&amp;pid</a:t>
                      </a:r>
                      <a:r>
                        <a:rPr lang="en-US" sz="1300" dirty="0">
                          <a:latin typeface="Times New Roman" panose="02020603050405020304" pitchFamily="18" charset="0"/>
                          <a:cs typeface="Times New Roman" panose="02020603050405020304" pitchFamily="18" charset="0"/>
                          <a:hlinkClick r:id="rId3"/>
                        </a:rPr>
                        <a:t>=S1665-64232023000500886</a:t>
                      </a:r>
                      <a:endParaRPr lang="en-US" sz="1300" dirty="0">
                        <a:latin typeface="Times New Roman" panose="02020603050405020304" pitchFamily="18" charset="0"/>
                        <a:cs typeface="Times New Roman" panose="02020603050405020304" pitchFamily="18" charset="0"/>
                      </a:endParaRPr>
                    </a:p>
                  </a:txBody>
                  <a:tcPr/>
                </a:tc>
                <a:tc>
                  <a:txBody>
                    <a:bodyPr/>
                    <a:lstStyle/>
                    <a:p>
                      <a:pPr algn="just"/>
                      <a:r>
                        <a:rPr lang="en-US" sz="1300" dirty="0">
                          <a:latin typeface="Times New Roman" panose="02020603050405020304" pitchFamily="18" charset="0"/>
                          <a:cs typeface="Times New Roman" panose="02020603050405020304" pitchFamily="18" charset="0"/>
                        </a:rPr>
                        <a:t>Built around NYC's zip-code zones and weather data; not directly applicable to other cities</a:t>
                      </a:r>
                    </a:p>
                  </a:txBody>
                  <a:tcPr/>
                </a:tc>
                <a:extLst>
                  <a:ext uri="{0D108BD9-81ED-4DB2-BD59-A6C34878D82A}">
                    <a16:rowId xmlns:a16="http://schemas.microsoft.com/office/drawing/2014/main" val="3498961955"/>
                  </a:ext>
                </a:extLst>
              </a:tr>
              <a:tr h="831308">
                <a:tc>
                  <a:txBody>
                    <a:bodyPr/>
                    <a:lstStyle/>
                    <a:p>
                      <a:r>
                        <a:rPr lang="en-US" sz="1300" dirty="0">
                          <a:latin typeface="Times New Roman" panose="02020603050405020304" pitchFamily="18" charset="0"/>
                          <a:cs typeface="Times New Roman" panose="02020603050405020304" pitchFamily="18" charset="0"/>
                        </a:rPr>
                        <a:t>3.</a:t>
                      </a:r>
                    </a:p>
                  </a:txBody>
                  <a:tcPr/>
                </a:tc>
                <a:tc>
                  <a:txBody>
                    <a:bodyPr/>
                    <a:lstStyle/>
                    <a:p>
                      <a:r>
                        <a:rPr lang="en-US" sz="1300" dirty="0">
                          <a:latin typeface="Times New Roman" panose="02020603050405020304" pitchFamily="18" charset="0"/>
                          <a:cs typeface="Times New Roman" panose="02020603050405020304" pitchFamily="18" charset="0"/>
                        </a:rPr>
                        <a:t>Ride-hailing fares and demand interactions</a:t>
                      </a:r>
                    </a:p>
                  </a:txBody>
                  <a:tcPr/>
                </a:tc>
                <a:tc>
                  <a:txBody>
                    <a:bodyPr/>
                    <a:lstStyle/>
                    <a:p>
                      <a:r>
                        <a:rPr lang="en-US" sz="1300" dirty="0">
                          <a:latin typeface="Times New Roman" panose="02020603050405020304" pitchFamily="18" charset="0"/>
                          <a:cs typeface="Times New Roman" panose="02020603050405020304" pitchFamily="18" charset="0"/>
                        </a:rPr>
                        <a:t>(ScienceDirect, 2026)</a:t>
                      </a:r>
                    </a:p>
                  </a:txBody>
                  <a:tcPr/>
                </a:tc>
                <a:tc>
                  <a:txBody>
                    <a:bodyPr/>
                    <a:lstStyle/>
                    <a:p>
                      <a:r>
                        <a:rPr lang="en-US" sz="1300" dirty="0">
                          <a:latin typeface="Times New Roman" panose="02020603050405020304" pitchFamily="18" charset="0"/>
                          <a:cs typeface="Times New Roman" panose="02020603050405020304" pitchFamily="18" charset="0"/>
                          <a:hlinkClick r:id="rId4"/>
                        </a:rPr>
                        <a:t>https://sciencedirect.com/science/article/abs/pii/S0739885926000351</a:t>
                      </a:r>
                      <a:endParaRPr lang="en-US" sz="1300" dirty="0">
                        <a:latin typeface="Times New Roman" panose="02020603050405020304" pitchFamily="18" charset="0"/>
                        <a:cs typeface="Times New Roman" panose="02020603050405020304" pitchFamily="18" charset="0"/>
                      </a:endParaRPr>
                    </a:p>
                  </a:txBody>
                  <a:tcPr/>
                </a:tc>
                <a:tc>
                  <a:txBody>
                    <a:bodyPr/>
                    <a:lstStyle/>
                    <a:p>
                      <a:pPr algn="just"/>
                      <a:r>
                        <a:rPr lang="en-US" sz="1300" dirty="0">
                          <a:latin typeface="Times New Roman" panose="02020603050405020304" pitchFamily="18" charset="0"/>
                          <a:cs typeface="Times New Roman" panose="02020603050405020304" pitchFamily="18" charset="0"/>
                        </a:rPr>
                        <a:t>Focuses only on Uber and Lyft in New York City over a short 15-day window, so findings may not hold for other markets or longer time periods.</a:t>
                      </a:r>
                    </a:p>
                  </a:txBody>
                  <a:tcPr/>
                </a:tc>
                <a:extLst>
                  <a:ext uri="{0D108BD9-81ED-4DB2-BD59-A6C34878D82A}">
                    <a16:rowId xmlns:a16="http://schemas.microsoft.com/office/drawing/2014/main" val="3692801802"/>
                  </a:ext>
                </a:extLst>
              </a:tr>
              <a:tr h="831308">
                <a:tc>
                  <a:txBody>
                    <a:bodyPr/>
                    <a:lstStyle/>
                    <a:p>
                      <a:r>
                        <a:rPr lang="en-US" sz="1400" dirty="0">
                          <a:latin typeface="Times New Roman" panose="02020603050405020304" pitchFamily="18" charset="0"/>
                          <a:cs typeface="Times New Roman" panose="02020603050405020304" pitchFamily="18" charset="0"/>
                        </a:rPr>
                        <a:t>4.</a:t>
                      </a:r>
                    </a:p>
                    <a:p>
                      <a:endParaRPr lang="en-US" dirty="0"/>
                    </a:p>
                  </a:txBody>
                  <a:tcPr/>
                </a:tc>
                <a:tc>
                  <a:txBody>
                    <a:bodyPr/>
                    <a:lstStyle/>
                    <a:p>
                      <a:r>
                        <a:rPr lang="en-US" sz="1300" dirty="0">
                          <a:latin typeface="Times New Roman" panose="02020603050405020304" pitchFamily="18" charset="0"/>
                          <a:cs typeface="Times New Roman" panose="02020603050405020304" pitchFamily="18" charset="0"/>
                        </a:rPr>
                        <a:t>Predicting rideshare demand (Public Policy Analytics, Ch. 8)</a:t>
                      </a:r>
                    </a:p>
                  </a:txBody>
                  <a:tcPr/>
                </a:tc>
                <a:tc>
                  <a:txBody>
                    <a:bodyPr/>
                    <a:lstStyle/>
                    <a:p>
                      <a:r>
                        <a:rPr lang="en-US" sz="1300" dirty="0">
                          <a:latin typeface="Times New Roman" panose="02020603050405020304" pitchFamily="18" charset="0"/>
                          <a:cs typeface="Times New Roman" panose="02020603050405020304" pitchFamily="18" charset="0"/>
                        </a:rPr>
                        <a:t>Ken Steif</a:t>
                      </a:r>
                    </a:p>
                  </a:txBody>
                  <a:tcPr/>
                </a:tc>
                <a:tc>
                  <a:txBody>
                    <a:bodyPr/>
                    <a:lstStyle/>
                    <a:p>
                      <a:r>
                        <a:rPr lang="en-US" sz="1300" dirty="0">
                          <a:latin typeface="Times New Roman" panose="02020603050405020304" pitchFamily="18" charset="0"/>
                          <a:cs typeface="Times New Roman" panose="02020603050405020304" pitchFamily="18" charset="0"/>
                          <a:hlinkClick r:id="rId5"/>
                        </a:rPr>
                        <a:t>https://urbanspatial.github.io/PublicPolicyAnalytics</a:t>
                      </a:r>
                      <a:endParaRPr lang="en-US" sz="1300" dirty="0">
                        <a:latin typeface="Times New Roman" panose="02020603050405020304" pitchFamily="18" charset="0"/>
                        <a:cs typeface="Times New Roman" panose="02020603050405020304" pitchFamily="18" charset="0"/>
                      </a:endParaRPr>
                    </a:p>
                  </a:txBody>
                  <a:tcPr/>
                </a:tc>
                <a:tc>
                  <a:txBody>
                    <a:bodyPr/>
                    <a:lstStyle/>
                    <a:p>
                      <a:pPr algn="just"/>
                      <a:r>
                        <a:rPr lang="en-US" sz="1300" dirty="0">
                          <a:latin typeface="Times New Roman" panose="02020603050405020304" pitchFamily="18" charset="0"/>
                          <a:cs typeface="Times New Roman" panose="02020603050405020304" pitchFamily="18" charset="0"/>
                        </a:rPr>
                        <a:t>Notes that </a:t>
                      </a:r>
                      <a:r>
                        <a:rPr lang="en-US" sz="1300" dirty="0" err="1">
                          <a:latin typeface="Times New Roman" panose="02020603050405020304" pitchFamily="18" charset="0"/>
                          <a:cs typeface="Times New Roman" panose="02020603050405020304" pitchFamily="18" charset="0"/>
                        </a:rPr>
                        <a:t>spatio</a:t>
                      </a:r>
                      <a:r>
                        <a:rPr lang="en-US" sz="1300" dirty="0">
                          <a:latin typeface="Times New Roman" panose="02020603050405020304" pitchFamily="18" charset="0"/>
                          <a:cs typeface="Times New Roman" panose="02020603050405020304" pitchFamily="18" charset="0"/>
                        </a:rPr>
                        <a:t>-temporal forecasting remains an open research problem, and reactive routing approaches often arrive after a demand spike has already ended.</a:t>
                      </a:r>
                    </a:p>
                  </a:txBody>
                  <a:tcPr/>
                </a:tc>
                <a:extLst>
                  <a:ext uri="{0D108BD9-81ED-4DB2-BD59-A6C34878D82A}">
                    <a16:rowId xmlns:a16="http://schemas.microsoft.com/office/drawing/2014/main" val="1908929606"/>
                  </a:ext>
                </a:extLst>
              </a:tr>
              <a:tr h="644981">
                <a:tc>
                  <a:txBody>
                    <a:bodyPr/>
                    <a:lstStyle/>
                    <a:p>
                      <a:r>
                        <a:rPr lang="en-US" sz="1400" dirty="0">
                          <a:latin typeface="Times New Roman" panose="02020603050405020304" pitchFamily="18" charset="0"/>
                          <a:cs typeface="Times New Roman" panose="02020603050405020304" pitchFamily="18" charset="0"/>
                        </a:rPr>
                        <a:t>5.</a:t>
                      </a:r>
                    </a:p>
                  </a:txBody>
                  <a:tcPr/>
                </a:tc>
                <a:tc>
                  <a:txBody>
                    <a:bodyPr/>
                    <a:lstStyle/>
                    <a:p>
                      <a:r>
                        <a:rPr lang="en-US" sz="1300" dirty="0">
                          <a:latin typeface="Times New Roman" panose="02020603050405020304" pitchFamily="18" charset="0"/>
                          <a:cs typeface="Times New Roman" panose="02020603050405020304" pitchFamily="18" charset="0"/>
                        </a:rPr>
                        <a:t>Modeling and prediction of ride-sharing utilization dynamics</a:t>
                      </a:r>
                    </a:p>
                  </a:txBody>
                  <a:tcPr/>
                </a:tc>
                <a:tc>
                  <a:txBody>
                    <a:bodyPr/>
                    <a:lstStyle/>
                    <a:p>
                      <a:r>
                        <a:rPr lang="en-US" sz="1300" dirty="0">
                          <a:latin typeface="Times New Roman" panose="02020603050405020304" pitchFamily="18" charset="0"/>
                          <a:cs typeface="Times New Roman" panose="02020603050405020304" pitchFamily="18" charset="0"/>
                        </a:rPr>
                        <a:t>(</a:t>
                      </a:r>
                      <a:r>
                        <a:rPr lang="en-US" sz="1300" dirty="0" err="1">
                          <a:latin typeface="Times New Roman" panose="02020603050405020304" pitchFamily="18" charset="0"/>
                          <a:cs typeface="Times New Roman" panose="02020603050405020304" pitchFamily="18" charset="0"/>
                        </a:rPr>
                        <a:t>Hindawi</a:t>
                      </a:r>
                      <a:r>
                        <a:rPr lang="en-US" sz="1300" dirty="0">
                          <a:latin typeface="Times New Roman" panose="02020603050405020304" pitchFamily="18" charset="0"/>
                          <a:cs typeface="Times New Roman" panose="02020603050405020304" pitchFamily="18" charset="0"/>
                        </a:rPr>
                        <a:t>, Journal of Advanced Transportation)</a:t>
                      </a:r>
                    </a:p>
                  </a:txBody>
                  <a:tcPr/>
                </a:tc>
                <a:tc>
                  <a:txBody>
                    <a:bodyPr/>
                    <a:lstStyle/>
                    <a:p>
                      <a:r>
                        <a:rPr lang="en-US" sz="1300" dirty="0">
                          <a:latin typeface="Times New Roman" panose="02020603050405020304" pitchFamily="18" charset="0"/>
                          <a:cs typeface="Times New Roman" panose="02020603050405020304" pitchFamily="18" charset="0"/>
                          <a:hlinkClick r:id="rId6"/>
                        </a:rPr>
                        <a:t>https://hindawi.com/journals/jat/2019/6125798</a:t>
                      </a:r>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300" dirty="0">
                          <a:latin typeface="Times New Roman" panose="02020603050405020304" pitchFamily="18" charset="0"/>
                          <a:cs typeface="Times New Roman" panose="02020603050405020304" pitchFamily="18" charset="0"/>
                        </a:rPr>
                        <a:t>The prediction method is validated on a single dataset of NYC taxi trips from a specific month, limiting confidence in broader applicability.</a:t>
                      </a:r>
                    </a:p>
                  </a:txBody>
                  <a:tcPr/>
                </a:tc>
                <a:extLst>
                  <a:ext uri="{0D108BD9-81ED-4DB2-BD59-A6C34878D82A}">
                    <a16:rowId xmlns:a16="http://schemas.microsoft.com/office/drawing/2014/main" val="3009795804"/>
                  </a:ext>
                </a:extLst>
              </a:tr>
              <a:tr h="348767">
                <a:tc>
                  <a:txBody>
                    <a:bodyPr/>
                    <a:lstStyle/>
                    <a:p>
                      <a:r>
                        <a:rPr lang="en-US" sz="1300" dirty="0">
                          <a:latin typeface="Times New Roman" panose="02020603050405020304" pitchFamily="18" charset="0"/>
                          <a:cs typeface="Times New Roman" panose="02020603050405020304" pitchFamily="18" charset="0"/>
                        </a:rPr>
                        <a:t>6.</a:t>
                      </a:r>
                    </a:p>
                  </a:txBody>
                  <a:tcPr/>
                </a:tc>
                <a:tc>
                  <a:txBody>
                    <a:bodyPr/>
                    <a:lstStyle/>
                    <a:p>
                      <a:r>
                        <a:rPr lang="en-US" sz="1300" dirty="0">
                          <a:latin typeface="Times New Roman" panose="02020603050405020304" pitchFamily="18" charset="0"/>
                          <a:cs typeface="Times New Roman" panose="02020603050405020304" pitchFamily="18" charset="0"/>
                        </a:rPr>
                        <a:t>Real-time text analytics pipeline using open-source big data tools</a:t>
                      </a:r>
                    </a:p>
                  </a:txBody>
                  <a:tcPr/>
                </a:tc>
                <a:tc>
                  <a:txBody>
                    <a:bodyPr/>
                    <a:lstStyle/>
                    <a:p>
                      <a:r>
                        <a:rPr lang="en-US" sz="1300" dirty="0">
                          <a:latin typeface="Times New Roman" panose="02020603050405020304" pitchFamily="18" charset="0"/>
                          <a:cs typeface="Times New Roman" panose="02020603050405020304" pitchFamily="18" charset="0"/>
                        </a:rPr>
                        <a:t>Hassan Nazeer, Waheed Iqbal, Fawaz Bokhari, Faisal Bukhari, Shuja Ur Rehman Baig</a:t>
                      </a:r>
                    </a:p>
                  </a:txBody>
                  <a:tcPr/>
                </a:tc>
                <a:tc>
                  <a:txBody>
                    <a:bodyPr/>
                    <a:lstStyle/>
                    <a:p>
                      <a:r>
                        <a:rPr lang="en-US" sz="1300" dirty="0">
                          <a:latin typeface="Times New Roman" panose="02020603050405020304" pitchFamily="18" charset="0"/>
                          <a:cs typeface="Times New Roman" panose="02020603050405020304" pitchFamily="18" charset="0"/>
                          <a:hlinkClick r:id="rId7"/>
                        </a:rPr>
                        <a:t>https://arxiv.org/pdf/1712.04344</a:t>
                      </a:r>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300" dirty="0">
                          <a:latin typeface="Times New Roman" panose="02020603050405020304" pitchFamily="18" charset="0"/>
                          <a:cs typeface="Times New Roman" panose="02020603050405020304" pitchFamily="18" charset="0"/>
                        </a:rPr>
                        <a:t>Evaluated only on Twitter sentiment data at a relatively small scale (under half a million tweets), so scalability to much larger, continuous ride-sharing data streams is not proven.</a:t>
                      </a:r>
                    </a:p>
                  </a:txBody>
                  <a:tcPr/>
                </a:tc>
                <a:extLst>
                  <a:ext uri="{0D108BD9-81ED-4DB2-BD59-A6C34878D82A}">
                    <a16:rowId xmlns:a16="http://schemas.microsoft.com/office/drawing/2014/main" val="3427902257"/>
                  </a:ext>
                </a:extLst>
              </a:tr>
            </a:tbl>
          </a:graphicData>
        </a:graphic>
      </p:graphicFrame>
      <p:pic>
        <p:nvPicPr>
          <p:cNvPr id="5" name="Picture 4">
            <a:extLst>
              <a:ext uri="{FF2B5EF4-FFF2-40B4-BE49-F238E27FC236}">
                <a16:creationId xmlns:a16="http://schemas.microsoft.com/office/drawing/2014/main" id="{64571B24-0D94-C7C3-5B27-C16B576BB69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1634410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452CC-17D2-6754-BB25-9D9002F789B3}"/>
              </a:ext>
            </a:extLst>
          </p:cNvPr>
          <p:cNvSpPr>
            <a:spLocks noGrp="1"/>
          </p:cNvSpPr>
          <p:nvPr>
            <p:ph type="title"/>
          </p:nvPr>
        </p:nvSpPr>
        <p:spPr>
          <a:xfrm>
            <a:off x="838200" y="205176"/>
            <a:ext cx="10515600" cy="1325563"/>
          </a:xfrm>
        </p:spPr>
        <p:txBody>
          <a:bodyPr/>
          <a:lstStyle/>
          <a:p>
            <a:pPr algn="ctr"/>
            <a:r>
              <a:rPr lang="en-IN" sz="4000" b="1" dirty="0">
                <a:latin typeface="Times New Roman" panose="02020603050405020304" pitchFamily="18" charset="0"/>
                <a:cs typeface="Times New Roman" panose="02020603050405020304" pitchFamily="18" charset="0"/>
              </a:rPr>
              <a:t>System</a:t>
            </a:r>
            <a:r>
              <a:rPr lang="en-IN" b="1" dirty="0">
                <a:latin typeface="Times New Roman" panose="02020603050405020304" pitchFamily="18" charset="0"/>
                <a:cs typeface="Times New Roman" panose="02020603050405020304" pitchFamily="18" charset="0"/>
              </a:rPr>
              <a:t> </a:t>
            </a:r>
            <a:r>
              <a:rPr lang="en-IN" sz="4000" b="1" dirty="0">
                <a:latin typeface="Times New Roman" panose="02020603050405020304" pitchFamily="18" charset="0"/>
                <a:cs typeface="Times New Roman" panose="02020603050405020304" pitchFamily="18" charset="0"/>
              </a:rPr>
              <a:t>Architecture</a:t>
            </a:r>
            <a:endParaRPr lang="en-US" sz="4000" dirty="0"/>
          </a:p>
        </p:txBody>
      </p:sp>
      <p:pic>
        <p:nvPicPr>
          <p:cNvPr id="7" name="Content Placeholder 6">
            <a:extLst>
              <a:ext uri="{FF2B5EF4-FFF2-40B4-BE49-F238E27FC236}">
                <a16:creationId xmlns:a16="http://schemas.microsoft.com/office/drawing/2014/main" id="{9CE5F306-BD87-4F7A-EB72-FF4B053B8839}"/>
              </a:ext>
            </a:extLst>
          </p:cNvPr>
          <p:cNvPicPr>
            <a:picLocks noGrp="1" noChangeAspect="1"/>
          </p:cNvPicPr>
          <p:nvPr>
            <p:ph idx="1"/>
          </p:nvPr>
        </p:nvPicPr>
        <p:blipFill>
          <a:blip r:embed="rId2"/>
          <a:stretch>
            <a:fillRect/>
          </a:stretch>
        </p:blipFill>
        <p:spPr>
          <a:xfrm>
            <a:off x="1166070" y="1257531"/>
            <a:ext cx="9404058" cy="5233848"/>
          </a:xfrm>
          <a:prstGeom prst="rect">
            <a:avLst/>
          </a:prstGeom>
        </p:spPr>
      </p:pic>
      <p:pic>
        <p:nvPicPr>
          <p:cNvPr id="5" name="Picture 4">
            <a:extLst>
              <a:ext uri="{FF2B5EF4-FFF2-40B4-BE49-F238E27FC236}">
                <a16:creationId xmlns:a16="http://schemas.microsoft.com/office/drawing/2014/main" id="{A29A7441-77B2-B3C7-BE1A-210E6E8CC5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5433036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TotalTime>
  <Words>902</Words>
  <Application>Microsoft Office PowerPoint</Application>
  <PresentationFormat>Widescreen</PresentationFormat>
  <Paragraphs>79</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Arial</vt:lpstr>
      <vt:lpstr>Calibri</vt:lpstr>
      <vt:lpstr>Calibri Light</vt:lpstr>
      <vt:lpstr>Times New Roman</vt:lpstr>
      <vt:lpstr>Office Theme</vt:lpstr>
      <vt:lpstr>  Ride-Sharing Analytics Platform   Review – 2  Section No : 04 </vt:lpstr>
      <vt:lpstr>Table of Contents</vt:lpstr>
      <vt:lpstr>Abstract</vt:lpstr>
      <vt:lpstr>Introduction </vt:lpstr>
      <vt:lpstr>Objectives</vt:lpstr>
      <vt:lpstr>Literature Survey</vt:lpstr>
      <vt:lpstr>System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dhanu sree</dc:creator>
  <cp:lastModifiedBy>dhanu sree</cp:lastModifiedBy>
  <cp:revision>4</cp:revision>
  <dcterms:created xsi:type="dcterms:W3CDTF">2026-08-16T15:36:26Z</dcterms:created>
  <dcterms:modified xsi:type="dcterms:W3CDTF">2026-09-18T05:48:34Z</dcterms:modified>
</cp:coreProperties>
</file>