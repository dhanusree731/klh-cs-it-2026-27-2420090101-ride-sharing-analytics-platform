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330" r:id="rId3"/>
    <p:sldId id="257" r:id="rId4"/>
    <p:sldId id="278" r:id="rId5"/>
    <p:sldId id="332" r:id="rId6"/>
    <p:sldId id="337" r:id="rId7"/>
    <p:sldId id="338" r:id="rId8"/>
    <p:sldId id="339" r:id="rId9"/>
    <p:sldId id="331" r:id="rId10"/>
    <p:sldId id="340" r:id="rId11"/>
    <p:sldId id="341" r:id="rId12"/>
    <p:sldId id="342" r:id="rId13"/>
    <p:sldId id="343" r:id="rId14"/>
    <p:sldId id="333" r:id="rId15"/>
    <p:sldId id="344" r:id="rId16"/>
    <p:sldId id="334" r:id="rId17"/>
    <p:sldId id="335" r:id="rId18"/>
    <p:sldId id="336" r:id="rId19"/>
    <p:sldId id="352" r:id="rId20"/>
    <p:sldId id="351" r:id="rId21"/>
    <p:sldId id="353" r:id="rId22"/>
    <p:sldId id="346" r:id="rId23"/>
    <p:sldId id="345" r:id="rId24"/>
    <p:sldId id="347" r:id="rId25"/>
    <p:sldId id="348" r:id="rId26"/>
    <p:sldId id="34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3C53AA-96E6-4D93-98DC-AEB6FB6D91C6}" v="5" dt="2026-09-18T04:44:06.9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 sree" userId="27574b1470f031ed" providerId="LiveId" clId="{81A57AFF-139F-450F-A66A-435A7A84504D}"/>
    <pc:docChg chg="custSel addSld delSld modSld sldOrd">
      <pc:chgData name="dhanu sree" userId="27574b1470f031ed" providerId="LiveId" clId="{81A57AFF-139F-450F-A66A-435A7A84504D}" dt="2026-09-18T04:44:55.325" v="47" actId="14100"/>
      <pc:docMkLst>
        <pc:docMk/>
      </pc:docMkLst>
      <pc:sldChg chg="modSp mod">
        <pc:chgData name="dhanu sree" userId="27574b1470f031ed" providerId="LiveId" clId="{81A57AFF-139F-450F-A66A-435A7A84504D}" dt="2026-09-18T04:38:30.128" v="9" actId="1076"/>
        <pc:sldMkLst>
          <pc:docMk/>
          <pc:sldMk cId="3194469386" sldId="339"/>
        </pc:sldMkLst>
        <pc:spChg chg="mod">
          <ac:chgData name="dhanu sree" userId="27574b1470f031ed" providerId="LiveId" clId="{81A57AFF-139F-450F-A66A-435A7A84504D}" dt="2026-09-18T04:38:30.128" v="9" actId="1076"/>
          <ac:spMkLst>
            <pc:docMk/>
            <pc:sldMk cId="3194469386" sldId="339"/>
            <ac:spMk id="2" creationId="{640DAF45-131F-4404-37A7-0A1D405B91BD}"/>
          </ac:spMkLst>
        </pc:spChg>
      </pc:sldChg>
      <pc:sldChg chg="addSp delSp modSp mod">
        <pc:chgData name="dhanu sree" userId="27574b1470f031ed" providerId="LiveId" clId="{81A57AFF-139F-450F-A66A-435A7A84504D}" dt="2026-09-18T04:42:14.614" v="16" actId="1076"/>
        <pc:sldMkLst>
          <pc:docMk/>
          <pc:sldMk cId="2149233967" sldId="345"/>
        </pc:sldMkLst>
        <pc:spChg chg="mod">
          <ac:chgData name="dhanu sree" userId="27574b1470f031ed" providerId="LiveId" clId="{81A57AFF-139F-450F-A66A-435A7A84504D}" dt="2026-09-18T03:57:28.549" v="5" actId="1076"/>
          <ac:spMkLst>
            <pc:docMk/>
            <pc:sldMk cId="2149233967" sldId="345"/>
            <ac:spMk id="3" creationId="{17E0A6D3-C45E-01EF-FB04-3F0C5333210B}"/>
          </ac:spMkLst>
        </pc:spChg>
        <pc:picChg chg="add mod">
          <ac:chgData name="dhanu sree" userId="27574b1470f031ed" providerId="LiveId" clId="{81A57AFF-139F-450F-A66A-435A7A84504D}" dt="2026-09-18T04:41:56.293" v="12"/>
          <ac:picMkLst>
            <pc:docMk/>
            <pc:sldMk cId="2149233967" sldId="345"/>
            <ac:picMk id="4" creationId="{0ACF217A-ADE3-8229-2ABC-53E349242ABE}"/>
          </ac:picMkLst>
        </pc:picChg>
        <pc:picChg chg="add del mod">
          <ac:chgData name="dhanu sree" userId="27574b1470f031ed" providerId="LiveId" clId="{81A57AFF-139F-450F-A66A-435A7A84504D}" dt="2026-09-18T04:41:53.390" v="10" actId="478"/>
          <ac:picMkLst>
            <pc:docMk/>
            <pc:sldMk cId="2149233967" sldId="345"/>
            <ac:picMk id="6" creationId="{FE721329-31D8-8D0F-9EF5-1AA6CA4BAFD7}"/>
          </ac:picMkLst>
        </pc:picChg>
        <pc:picChg chg="add mod">
          <ac:chgData name="dhanu sree" userId="27574b1470f031ed" providerId="LiveId" clId="{81A57AFF-139F-450F-A66A-435A7A84504D}" dt="2026-09-18T04:42:14.614" v="16" actId="1076"/>
          <ac:picMkLst>
            <pc:docMk/>
            <pc:sldMk cId="2149233967" sldId="345"/>
            <ac:picMk id="8" creationId="{F4D0AFC9-8265-728D-8E38-1897C007DAA5}"/>
          </ac:picMkLst>
        </pc:picChg>
      </pc:sldChg>
      <pc:sldChg chg="addSp delSp modSp del mod">
        <pc:chgData name="dhanu sree" userId="27574b1470f031ed" providerId="LiveId" clId="{81A57AFF-139F-450F-A66A-435A7A84504D}" dt="2026-09-18T04:44:11.270" v="35" actId="2696"/>
        <pc:sldMkLst>
          <pc:docMk/>
          <pc:sldMk cId="2653467137" sldId="350"/>
        </pc:sldMkLst>
        <pc:spChg chg="mod">
          <ac:chgData name="dhanu sree" userId="27574b1470f031ed" providerId="LiveId" clId="{81A57AFF-139F-450F-A66A-435A7A84504D}" dt="2026-09-18T04:43:54.106" v="32" actId="1076"/>
          <ac:spMkLst>
            <pc:docMk/>
            <pc:sldMk cId="2653467137" sldId="350"/>
            <ac:spMk id="2" creationId="{08ADB8BE-3145-3F3D-6BAE-D8508F64DF95}"/>
          </ac:spMkLst>
        </pc:spChg>
        <pc:spChg chg="del">
          <ac:chgData name="dhanu sree" userId="27574b1470f031ed" providerId="LiveId" clId="{81A57AFF-139F-450F-A66A-435A7A84504D}" dt="2026-09-18T04:42:38.485" v="17" actId="22"/>
          <ac:spMkLst>
            <pc:docMk/>
            <pc:sldMk cId="2653467137" sldId="350"/>
            <ac:spMk id="3" creationId="{1DED4F70-BFF5-0031-28C1-5A49F4B408D4}"/>
          </ac:spMkLst>
        </pc:spChg>
        <pc:picChg chg="add mod ord">
          <ac:chgData name="dhanu sree" userId="27574b1470f031ed" providerId="LiveId" clId="{81A57AFF-139F-450F-A66A-435A7A84504D}" dt="2026-09-18T04:43:59.481" v="33" actId="14100"/>
          <ac:picMkLst>
            <pc:docMk/>
            <pc:sldMk cId="2653467137" sldId="350"/>
            <ac:picMk id="6" creationId="{28D2159A-EB42-D503-0866-EC79BC4563B9}"/>
          </ac:picMkLst>
        </pc:picChg>
      </pc:sldChg>
      <pc:sldChg chg="addSp delSp modSp add mod">
        <pc:chgData name="dhanu sree" userId="27574b1470f031ed" providerId="LiveId" clId="{81A57AFF-139F-450F-A66A-435A7A84504D}" dt="2026-09-18T04:44:35.160" v="41" actId="14100"/>
        <pc:sldMkLst>
          <pc:docMk/>
          <pc:sldMk cId="2794318137" sldId="351"/>
        </pc:sldMkLst>
        <pc:spChg chg="mod">
          <ac:chgData name="dhanu sree" userId="27574b1470f031ed" providerId="LiveId" clId="{81A57AFF-139F-450F-A66A-435A7A84504D}" dt="2026-09-18T04:44:30.835" v="40" actId="1076"/>
          <ac:spMkLst>
            <pc:docMk/>
            <pc:sldMk cId="2794318137" sldId="351"/>
            <ac:spMk id="2" creationId="{76211268-DCCC-8484-8DF5-5DB01AC607A0}"/>
          </ac:spMkLst>
        </pc:spChg>
        <pc:spChg chg="add del mod">
          <ac:chgData name="dhanu sree" userId="27574b1470f031ed" providerId="LiveId" clId="{81A57AFF-139F-450F-A66A-435A7A84504D}" dt="2026-09-18T04:43:02.604" v="21" actId="22"/>
          <ac:spMkLst>
            <pc:docMk/>
            <pc:sldMk cId="2794318137" sldId="351"/>
            <ac:spMk id="4" creationId="{F920F22D-F978-55EC-A63E-31FCA1D52B56}"/>
          </ac:spMkLst>
        </pc:spChg>
        <pc:picChg chg="del">
          <ac:chgData name="dhanu sree" userId="27574b1470f031ed" providerId="LiveId" clId="{81A57AFF-139F-450F-A66A-435A7A84504D}" dt="2026-09-18T04:42:45.918" v="19" actId="478"/>
          <ac:picMkLst>
            <pc:docMk/>
            <pc:sldMk cId="2794318137" sldId="351"/>
            <ac:picMk id="6" creationId="{A8CC6C2A-7B05-41F4-DAC4-53A3ADD75536}"/>
          </ac:picMkLst>
        </pc:picChg>
        <pc:picChg chg="add mod ord">
          <ac:chgData name="dhanu sree" userId="27574b1470f031ed" providerId="LiveId" clId="{81A57AFF-139F-450F-A66A-435A7A84504D}" dt="2026-09-18T04:44:35.160" v="41" actId="14100"/>
          <ac:picMkLst>
            <pc:docMk/>
            <pc:sldMk cId="2794318137" sldId="351"/>
            <ac:picMk id="8" creationId="{0DE74A18-954E-F073-0550-CD3395C1DBAA}"/>
          </ac:picMkLst>
        </pc:picChg>
      </pc:sldChg>
      <pc:sldChg chg="addSp delSp modSp add mod ord">
        <pc:chgData name="dhanu sree" userId="27574b1470f031ed" providerId="LiveId" clId="{81A57AFF-139F-450F-A66A-435A7A84504D}" dt="2026-09-18T04:44:39.354" v="43"/>
        <pc:sldMkLst>
          <pc:docMk/>
          <pc:sldMk cId="2631365906" sldId="352"/>
        </pc:sldMkLst>
        <pc:spChg chg="mod">
          <ac:chgData name="dhanu sree" userId="27574b1470f031ed" providerId="LiveId" clId="{81A57AFF-139F-450F-A66A-435A7A84504D}" dt="2026-09-18T04:43:30.062" v="27" actId="1076"/>
          <ac:spMkLst>
            <pc:docMk/>
            <pc:sldMk cId="2631365906" sldId="352"/>
            <ac:spMk id="2" creationId="{10FC672F-2FA7-6038-4102-B64116B0C977}"/>
          </ac:spMkLst>
        </pc:spChg>
        <pc:spChg chg="del">
          <ac:chgData name="dhanu sree" userId="27574b1470f031ed" providerId="LiveId" clId="{81A57AFF-139F-450F-A66A-435A7A84504D}" dt="2026-09-18T04:43:13.585" v="22" actId="22"/>
          <ac:spMkLst>
            <pc:docMk/>
            <pc:sldMk cId="2631365906" sldId="352"/>
            <ac:spMk id="4" creationId="{67D4EDAA-5F5C-D0B0-B4D3-0BE614B78F38}"/>
          </ac:spMkLst>
        </pc:spChg>
        <pc:picChg chg="add mod ord">
          <ac:chgData name="dhanu sree" userId="27574b1470f031ed" providerId="LiveId" clId="{81A57AFF-139F-450F-A66A-435A7A84504D}" dt="2026-09-18T04:43:47.282" v="31" actId="14100"/>
          <ac:picMkLst>
            <pc:docMk/>
            <pc:sldMk cId="2631365906" sldId="352"/>
            <ac:picMk id="6" creationId="{EC1FFD6F-3647-61DE-0D80-35FE73DF9B6C}"/>
          </ac:picMkLst>
        </pc:picChg>
      </pc:sldChg>
      <pc:sldChg chg="modSp add mod">
        <pc:chgData name="dhanu sree" userId="27574b1470f031ed" providerId="LiveId" clId="{81A57AFF-139F-450F-A66A-435A7A84504D}" dt="2026-09-18T04:44:55.325" v="47" actId="14100"/>
        <pc:sldMkLst>
          <pc:docMk/>
          <pc:sldMk cId="246516535" sldId="353"/>
        </pc:sldMkLst>
        <pc:picChg chg="mod">
          <ac:chgData name="dhanu sree" userId="27574b1470f031ed" providerId="LiveId" clId="{81A57AFF-139F-450F-A66A-435A7A84504D}" dt="2026-09-18T04:44:55.325" v="47" actId="14100"/>
          <ac:picMkLst>
            <pc:docMk/>
            <pc:sldMk cId="246516535" sldId="353"/>
            <ac:picMk id="6" creationId="{804A752C-E026-C736-93EE-1469882664D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0270-8DDA-7D74-0011-72454A7CA2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F22A1B-CD3B-F1C5-F4FC-E49AA8DE8B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85AB6E-D69A-2C83-EF7D-65F037332230}"/>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A245011-B23B-7D57-3AE8-DA6CC7E9F2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66E88-21BC-CF9E-29B7-54CCBE9E6112}"/>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269152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5160-E65D-D0BF-085E-64696CCD97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150F1-3713-D4FF-3A54-154CB19F48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31442-20CE-5956-C620-8D96D244263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53632799-97AE-B5BA-5409-528B6E5C96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516C6-9C4A-19B0-2DE1-D10A57DFEA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78723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9729F-B37C-94C7-682F-BBE09DCEAC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C76081-1F05-A31D-9EA4-02A50B086F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F9E1F3-9992-1BC1-76BC-5DF20D39807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2203DCCE-9712-85C4-62AE-32DF3A8768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13E2F2-E730-0871-03C0-B75712735555}"/>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10872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DBF1-8392-C909-1F71-3466F64DDB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05CAE1-396E-E730-96E6-D1014977C2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76E7AE-9361-9418-9D80-B5D5D5DE4C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69F88E-C6C7-4A1E-C7BE-BA479AE5D4DD}"/>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DBAECC66-84D9-3F39-7D16-1960DCA9CF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587070-3E29-607A-811D-C251D4D0EA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4103850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5CF0-7EF5-0937-6863-A4FBC4B080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FF6478-94EC-5851-F141-E3861D85F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BAB86D-B573-93AE-0326-191E7AE0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5553D6-2855-2D3E-0D72-C4175D1BA1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326F4-A517-6748-0138-E02ECA224C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A1468D-6EE1-46C7-C3FA-7F683DE869D1}"/>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8" name="Footer Placeholder 7">
            <a:extLst>
              <a:ext uri="{FF2B5EF4-FFF2-40B4-BE49-F238E27FC236}">
                <a16:creationId xmlns:a16="http://schemas.microsoft.com/office/drawing/2014/main" id="{13593F02-D553-03C3-99D9-657A133881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BC00DA-3EF0-DF59-38B8-66530386E059}"/>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19327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F7FF-50E0-5932-F4C2-7C4AF75A6E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001C93-76F2-8F78-A57E-C1F91C9139A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4" name="Footer Placeholder 3">
            <a:extLst>
              <a:ext uri="{FF2B5EF4-FFF2-40B4-BE49-F238E27FC236}">
                <a16:creationId xmlns:a16="http://schemas.microsoft.com/office/drawing/2014/main" id="{F33FF2FA-79B6-0990-BD6C-D70893CB65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3E0311-1CD0-0620-E82E-EF0F27FC5FF6}"/>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477866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5BF430-6F13-3E3C-20EE-46A0C7D4D09C}"/>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3" name="Footer Placeholder 2">
            <a:extLst>
              <a:ext uri="{FF2B5EF4-FFF2-40B4-BE49-F238E27FC236}">
                <a16:creationId xmlns:a16="http://schemas.microsoft.com/office/drawing/2014/main" id="{4ED00068-3667-6C29-BD67-1FEC8ADA1C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2829C3E-D1C6-6675-848E-BC7A0455B7A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947307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C6A6E-68DE-7ABC-A846-0BA60D3E2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94CF27-7D6B-B50E-3B7E-5D39AF4A7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523A2C9-418D-5B02-6179-B9A7BD543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E81D39-9005-088E-8B28-4D331BCEB8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4629E170-15C5-E218-66AF-D57C05DC33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75C9C9-1C8B-03CC-A638-67AD180D83B3}"/>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219811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EE60-B9D1-25A4-304A-292DCFEEF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9073C0-6C3A-283B-28B2-90FC6383F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28E588-3F3C-B77D-4497-3FE7E36F7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EAC981-CFEF-D8CB-157F-7F473D14EA7B}"/>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6" name="Footer Placeholder 5">
            <a:extLst>
              <a:ext uri="{FF2B5EF4-FFF2-40B4-BE49-F238E27FC236}">
                <a16:creationId xmlns:a16="http://schemas.microsoft.com/office/drawing/2014/main" id="{9EC40EBF-3BCE-1FC9-F482-8F8F663696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A71BEC-16FC-D268-4657-4888DD648CAC}"/>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124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7455-0ECC-B5A7-2556-3536271B41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E4B56B-9901-21E4-4520-C40EEBAE69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2E4274-813A-EBD7-9B13-6FB319D63753}"/>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8FA645BE-0961-BD4A-49F9-CCD800711B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3976F3-31C4-03FA-BA92-E2F9CE150877}"/>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3282401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33049-43A1-5519-0BC5-135B057194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E58135-AB32-AADB-5800-4534E4E808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F04120-83EC-0C4E-1CC0-29ECE4191227}"/>
              </a:ext>
            </a:extLst>
          </p:cNvPr>
          <p:cNvSpPr>
            <a:spLocks noGrp="1"/>
          </p:cNvSpPr>
          <p:nvPr>
            <p:ph type="dt" sz="half" idx="10"/>
          </p:nvPr>
        </p:nvSpPr>
        <p:spPr/>
        <p:txBody>
          <a:body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69673600-A1AD-0743-9E0B-0DD4A4EB8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8DF818-96AA-7982-F0FD-6F1C1B59C440}"/>
              </a:ext>
            </a:extLst>
          </p:cNvPr>
          <p:cNvSpPr>
            <a:spLocks noGrp="1"/>
          </p:cNvSpPr>
          <p:nvPr>
            <p:ph type="sldNum" sz="quarter" idx="12"/>
          </p:nvPr>
        </p:nvSpPr>
        <p:spPr/>
        <p:txBody>
          <a:bodyPr/>
          <a:lstStyle/>
          <a:p>
            <a:fld id="{16222CB0-5FF1-4E2B-B057-A7FA726952A0}" type="slidenum">
              <a:rPr lang="en-IN" smtClean="0"/>
              <a:t>‹#›</a:t>
            </a:fld>
            <a:endParaRPr lang="en-IN"/>
          </a:p>
        </p:txBody>
      </p:sp>
    </p:spTree>
    <p:extLst>
      <p:ext uri="{BB962C8B-B14F-4D97-AF65-F5344CB8AC3E}">
        <p14:creationId xmlns:p14="http://schemas.microsoft.com/office/powerpoint/2010/main" val="152125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860369-C392-6A3F-DAC8-77E97F43E0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FCF481-B489-40E3-6E0C-33942120C2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23E32-78B3-50B4-3C34-EEB7C40B18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C93965-B662-4189-87C7-BF3F9094543D}" type="datetimeFigureOut">
              <a:rPr lang="en-IN" smtClean="0"/>
              <a:t>18-09-2026</a:t>
            </a:fld>
            <a:endParaRPr lang="en-IN"/>
          </a:p>
        </p:txBody>
      </p:sp>
      <p:sp>
        <p:nvSpPr>
          <p:cNvPr id="5" name="Footer Placeholder 4">
            <a:extLst>
              <a:ext uri="{FF2B5EF4-FFF2-40B4-BE49-F238E27FC236}">
                <a16:creationId xmlns:a16="http://schemas.microsoft.com/office/drawing/2014/main" id="{DAEDA26C-ABF6-3AAE-C94C-CC836CF1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5B988C9-BB64-DCA6-07B8-B79F1FB045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222CB0-5FF1-4E2B-B057-A7FA726952A0}" type="slidenum">
              <a:rPr lang="en-IN" smtClean="0"/>
              <a:t>‹#›</a:t>
            </a:fld>
            <a:endParaRPr lang="en-IN"/>
          </a:p>
        </p:txBody>
      </p:sp>
    </p:spTree>
    <p:extLst>
      <p:ext uri="{BB962C8B-B14F-4D97-AF65-F5344CB8AC3E}">
        <p14:creationId xmlns:p14="http://schemas.microsoft.com/office/powerpoint/2010/main" val="1809074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scielo.org.mx/scielo.php?script=sci_arttext&amp;pid=S1665-64232023000500886" TargetMode="External"/><Relationship Id="rId7" Type="http://schemas.openxmlformats.org/officeDocument/2006/relationships/hyperlink" Target="https://arxiv.org/pdf/1712.04344" TargetMode="External"/><Relationship Id="rId2" Type="http://schemas.openxmlformats.org/officeDocument/2006/relationships/hyperlink" Target="https://arxiv.org/abs/2212.03956" TargetMode="External"/><Relationship Id="rId1" Type="http://schemas.openxmlformats.org/officeDocument/2006/relationships/slideLayout" Target="../slideLayouts/slideLayout2.xml"/><Relationship Id="rId6" Type="http://schemas.openxmlformats.org/officeDocument/2006/relationships/hyperlink" Target="https://hindawi.com/journals/jat/2019/6125798" TargetMode="External"/><Relationship Id="rId5" Type="http://schemas.openxmlformats.org/officeDocument/2006/relationships/hyperlink" Target="https://urbanspatial.github.io/PublicPolicyAnalytics" TargetMode="External"/><Relationship Id="rId4" Type="http://schemas.openxmlformats.org/officeDocument/2006/relationships/hyperlink" Target="https://sciencedirect.com/science/article/abs/pii/S0739885926000351"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38525" y="306957"/>
            <a:ext cx="5829300" cy="1710813"/>
          </a:xfrm>
        </p:spPr>
        <p:txBody>
          <a:bodyPr>
            <a:normAutofit fontScale="90000"/>
          </a:bodyPr>
          <a:lstStyle/>
          <a:p>
            <a:pPr>
              <a:lnSpc>
                <a:spcPct val="60000"/>
              </a:lnSpc>
              <a:spcBef>
                <a:spcPts val="600"/>
              </a:spcBef>
              <a:spcAft>
                <a:spcPts val="600"/>
              </a:spcAft>
              <a:defRPr/>
            </a:pPr>
            <a:br>
              <a:rPr lang="en-US" sz="3100" b="1" dirty="0">
                <a:latin typeface="Times New Roman" pitchFamily="18" charset="0"/>
                <a:cs typeface="Times New Roman" pitchFamily="18" charset="0"/>
              </a:rPr>
            </a:br>
            <a:br>
              <a:rPr lang="en-US" sz="3100" b="1" dirty="0">
                <a:latin typeface="Times New Roman" pitchFamily="18" charset="0"/>
                <a:cs typeface="Times New Roman" pitchFamily="18" charset="0"/>
              </a:rPr>
            </a:br>
            <a:r>
              <a:rPr lang="en-IN" sz="3100" b="1" dirty="0">
                <a:solidFill>
                  <a:schemeClr val="tx2"/>
                </a:solidFill>
                <a:latin typeface="Times New Roman" panose="02020603050405020304" pitchFamily="18" charset="0"/>
                <a:cs typeface="Times New Roman" panose="02020603050405020304" pitchFamily="18" charset="0"/>
              </a:rPr>
              <a:t>Ride-Sharing Analytics Platform</a:t>
            </a:r>
            <a:r>
              <a:rPr lang="en-US" sz="3100" b="1" dirty="0">
                <a:solidFill>
                  <a:schemeClr val="tx2"/>
                </a:solidFill>
                <a:latin typeface="Times New Roman" panose="02020603050405020304" pitchFamily="18" charset="0"/>
                <a:cs typeface="Times New Roman" panose="02020603050405020304" pitchFamily="18" charset="0"/>
              </a:rPr>
              <a:t> </a:t>
            </a:r>
            <a:br>
              <a:rPr lang="en-US" sz="3100" b="1" dirty="0">
                <a:latin typeface="Times New Roman" panose="02020603050405020304" pitchFamily="18" charset="0"/>
                <a:cs typeface="Times New Roman" panose="02020603050405020304" pitchFamily="18" charset="0"/>
              </a:rPr>
            </a:br>
            <a:br>
              <a:rPr lang="en-US" sz="3100" b="1" dirty="0">
                <a:latin typeface="Times New Roman" panose="02020603050405020304" pitchFamily="18" charset="0"/>
                <a:cs typeface="Times New Roman" panose="02020603050405020304" pitchFamily="18" charset="0"/>
              </a:rPr>
            </a:br>
            <a:br>
              <a:rPr lang="en-US" sz="3100" b="1" dirty="0">
                <a:latin typeface="Times New Roman" panose="02020603050405020304" pitchFamily="18" charset="0"/>
                <a:cs typeface="Times New Roman" panose="02020603050405020304" pitchFamily="18" charset="0"/>
              </a:rPr>
            </a:br>
            <a:br>
              <a:rPr lang="en-US" sz="2400" b="1" dirty="0">
                <a:latin typeface="Times New Roman" pitchFamily="18" charset="0"/>
                <a:cs typeface="Times New Roman" pitchFamily="18" charset="0"/>
              </a:rPr>
            </a:br>
            <a:endParaRPr lang="en-US" sz="2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924175" y="997980"/>
            <a:ext cx="6343650" cy="2190168"/>
          </a:xfrm>
        </p:spPr>
        <p:txBody>
          <a:bodyPr>
            <a:normAutofit fontScale="25000" lnSpcReduction="20000"/>
          </a:bodyPr>
          <a:lstStyle/>
          <a:p>
            <a:pPr>
              <a:lnSpc>
                <a:spcPct val="170000"/>
              </a:lnSpc>
              <a:spcBef>
                <a:spcPts val="200"/>
              </a:spcBef>
              <a:defRPr/>
            </a:pPr>
            <a:r>
              <a:rPr lang="en-US" sz="8000" b="1" dirty="0">
                <a:latin typeface="Times New Roman" pitchFamily="18" charset="0"/>
                <a:cs typeface="Times New Roman" pitchFamily="18" charset="0"/>
              </a:rPr>
              <a:t> Sec - 04 </a:t>
            </a:r>
          </a:p>
          <a:p>
            <a:pPr>
              <a:lnSpc>
                <a:spcPct val="120000"/>
              </a:lnSpc>
              <a:spcBef>
                <a:spcPts val="200"/>
              </a:spcBef>
              <a:defRPr/>
            </a:pPr>
            <a:endParaRPr lang="en-US" sz="5600" b="1" dirty="0">
              <a:latin typeface="Times New Roman" pitchFamily="18" charset="0"/>
              <a:cs typeface="Times New Roman" pitchFamily="18" charset="0"/>
            </a:endParaRPr>
          </a:p>
          <a:p>
            <a:pPr>
              <a:lnSpc>
                <a:spcPct val="80000"/>
              </a:lnSpc>
              <a:spcBef>
                <a:spcPts val="200"/>
              </a:spcBef>
              <a:defRPr/>
            </a:pPr>
            <a:r>
              <a:rPr lang="en-US" sz="7200" b="1" dirty="0">
                <a:latin typeface="Times New Roman" pitchFamily="18" charset="0"/>
                <a:cs typeface="Times New Roman" pitchFamily="18" charset="0"/>
              </a:rPr>
              <a:t>TEAM NO  : 20</a:t>
            </a:r>
          </a:p>
          <a:p>
            <a:pPr>
              <a:lnSpc>
                <a:spcPct val="80000"/>
              </a:lnSpc>
              <a:spcBef>
                <a:spcPts val="200"/>
              </a:spcBef>
              <a:defRPr/>
            </a:pPr>
            <a:endParaRPr lang="en-US" sz="4900" b="1" dirty="0">
              <a:solidFill>
                <a:srgbClr val="00B0F0"/>
              </a:solidFill>
              <a:latin typeface="Times New Roman"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2420090101 – N DhanuSree</a:t>
            </a:r>
          </a:p>
          <a:p>
            <a:pPr>
              <a:lnSpc>
                <a:spcPct val="80000"/>
              </a:lnSpc>
              <a:spcBef>
                <a:spcPts val="200"/>
              </a:spcBef>
              <a:defRPr/>
            </a:pPr>
            <a:endParaRPr lang="en-US" sz="6400" dirty="0">
              <a:solidFill>
                <a:srgbClr val="0D0D0D"/>
              </a:solidFill>
              <a:latin typeface="Times New Roman" panose="02020603050405020304" pitchFamily="18" charset="0"/>
              <a:cs typeface="Times New Roman" pitchFamily="18" charset="0"/>
            </a:endParaRP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2420090032  - Y Viditha  </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                       </a:t>
            </a:r>
          </a:p>
          <a:p>
            <a:pPr>
              <a:lnSpc>
                <a:spcPct val="80000"/>
              </a:lnSpc>
              <a:spcBef>
                <a:spcPts val="200"/>
              </a:spcBef>
              <a:defRPr/>
            </a:pPr>
            <a:r>
              <a:rPr lang="en-US" sz="6400" dirty="0">
                <a:solidFill>
                  <a:srgbClr val="0D0D0D"/>
                </a:solidFill>
                <a:latin typeface="Times New Roman" panose="02020603050405020304" pitchFamily="18" charset="0"/>
                <a:cs typeface="Times New Roman" pitchFamily="18" charset="0"/>
              </a:rPr>
              <a:t>2420030678  – G GopiKrishna</a:t>
            </a: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5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6400" dirty="0">
              <a:solidFill>
                <a:srgbClr val="0D0D0D"/>
              </a:solidFill>
              <a:latin typeface="Times New Roman" pitchFamily="18" charset="0"/>
              <a:cs typeface="Times New Roman" pitchFamily="18" charset="0"/>
            </a:endParaRPr>
          </a:p>
          <a:p>
            <a:pPr>
              <a:lnSpc>
                <a:spcPct val="80000"/>
              </a:lnSpc>
              <a:defRPr/>
            </a:pPr>
            <a:r>
              <a:rPr lang="en-US" sz="7200" b="1" dirty="0">
                <a:latin typeface="Times New Roman" panose="02020603050405020304" pitchFamily="18" charset="0"/>
                <a:cs typeface="Times New Roman" panose="02020603050405020304" pitchFamily="18" charset="0"/>
              </a:rPr>
              <a:t>Dr. NALLA SIRISHA </a:t>
            </a:r>
          </a:p>
          <a:p>
            <a:pPr>
              <a:lnSpc>
                <a:spcPct val="80000"/>
              </a:lnSpc>
              <a:defRPr/>
            </a:pPr>
            <a:r>
              <a:rPr lang="en-US" sz="7200" b="1" dirty="0">
                <a:latin typeface="Times New Roman" panose="02020603050405020304" pitchFamily="18" charset="0"/>
                <a:cs typeface="Times New Roman" panose="02020603050405020304" pitchFamily="18" charset="0"/>
              </a:rPr>
              <a:t>Associate Professor </a:t>
            </a:r>
          </a:p>
          <a:p>
            <a:pPr>
              <a:lnSpc>
                <a:spcPct val="80000"/>
              </a:lnSpc>
              <a:defRPr/>
            </a:pPr>
            <a:endParaRPr lang="en-US" sz="4200" b="1" dirty="0">
              <a:latin typeface="Times New Roman" panose="02020603050405020304" pitchFamily="18" charset="0"/>
              <a:cs typeface="Times New Roman" panose="02020603050405020304" pitchFamily="18" charset="0"/>
            </a:endParaRPr>
          </a:p>
          <a:p>
            <a:pPr>
              <a:lnSpc>
                <a:spcPct val="80000"/>
              </a:lnSpc>
              <a:defRPr/>
            </a:pPr>
            <a:r>
              <a:rPr lang="en-US" sz="42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2838450" y="561086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estd.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Bachupally-Gandimaisamma Road, Bowrampet,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9955" y="4757114"/>
            <a:ext cx="1874990" cy="939785"/>
          </a:xfrm>
          <a:prstGeom prst="rect">
            <a:avLst/>
          </a:prstGeom>
          <a:noFill/>
          <a:ln>
            <a:noFill/>
          </a:ln>
        </p:spPr>
      </p:pic>
      <p:pic>
        <p:nvPicPr>
          <p:cNvPr id="6" name="Picture 5">
            <a:extLst>
              <a:ext uri="{FF2B5EF4-FFF2-40B4-BE49-F238E27FC236}">
                <a16:creationId xmlns:a16="http://schemas.microsoft.com/office/drawing/2014/main" id="{52812A92-25D5-E049-7FEF-06CDECA03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9000F-F1BD-E613-820F-D1F8E8E65E75}"/>
              </a:ext>
            </a:extLst>
          </p:cNvPr>
          <p:cNvSpPr>
            <a:spLocks noGrp="1"/>
          </p:cNvSpPr>
          <p:nvPr>
            <p:ph type="title"/>
          </p:nvPr>
        </p:nvSpPr>
        <p:spPr>
          <a:xfrm>
            <a:off x="4372249" y="-101608"/>
            <a:ext cx="8229600" cy="1143000"/>
          </a:xfrm>
        </p:spPr>
        <p:txBody>
          <a:bodyPr/>
          <a:lstStyle/>
          <a:p>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D15B7CB-5703-360E-5EFA-6C813477C3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74990" cy="939785"/>
          </a:xfrm>
          <a:prstGeom prst="rect">
            <a:avLst/>
          </a:prstGeom>
          <a:noFill/>
          <a:ln>
            <a:noFill/>
          </a:ln>
        </p:spPr>
      </p:pic>
      <p:sp>
        <p:nvSpPr>
          <p:cNvPr id="8" name="TextBox 7">
            <a:extLst>
              <a:ext uri="{FF2B5EF4-FFF2-40B4-BE49-F238E27FC236}">
                <a16:creationId xmlns:a16="http://schemas.microsoft.com/office/drawing/2014/main" id="{8D6F5C32-01B2-BBA6-DC38-CAAD2E3FC292}"/>
              </a:ext>
            </a:extLst>
          </p:cNvPr>
          <p:cNvSpPr txBox="1"/>
          <p:nvPr/>
        </p:nvSpPr>
        <p:spPr>
          <a:xfrm>
            <a:off x="1779706" y="948690"/>
            <a:ext cx="9704371" cy="5632311"/>
          </a:xfrm>
          <a:prstGeom prst="rect">
            <a:avLst/>
          </a:prstGeom>
          <a:noFill/>
        </p:spPr>
        <p:txBody>
          <a:bodyPr wrap="square" numCol="2">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Existing System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Limitations of Existing System</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System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Software Requirements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Hardware Requirements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Functional Requirements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Non-Functional Requirements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architecture</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UML Diagrams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Methodology</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Technologies Used</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Implementation</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Functionality / Flow Diagram</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Results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Comparison</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99312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3620" y="233516"/>
            <a:ext cx="8229600" cy="1143000"/>
          </a:xfrm>
        </p:spPr>
        <p:txBody>
          <a:bodyPr>
            <a:normAutofit/>
          </a:bodyPr>
          <a:lstStyle/>
          <a:p>
            <a:pPr algn="just"/>
            <a:r>
              <a:rPr lang="en-US" sz="4000" b="1" dirty="0">
                <a:latin typeface="Times New Roman" pitchFamily="18" charset="0"/>
                <a:cs typeface="Times New Roman" pitchFamily="18" charset="0"/>
              </a:rPr>
              <a:t>Abstract</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1091381" y="1226574"/>
            <a:ext cx="10156722" cy="440485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rapid growth of ride-sharing platforms like Uber has made data-driven decision-making essential for improving service efficiency and customer experience in urban transportation. This project, "Ride-Sharing Analytics Platform," proposes an Uber-like system that stores trip information, calculates peak traffic hours, tracks driver performance, and predicts future ride demand. The platform is built using Python for data processing, PostgreSQL for structured storage, Apache Kafka for real-time streaming, Apache Airflow for ETL pipeline orchestration, Docker for containerized deployment, and Power BI for interactive dashboard visualization. By automating data collection and transformation through scalable ETL pipelines, the system delivers actionable insights on demand patterns, traffic trends, and driver performance, supporting better fleet management and pricing decisions. Through this project, practical skills are gained in ETL pipeline development, database management, data warehousing, and dashboard design — key competencies for real-world data engineering roles.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1" y="0"/>
            <a:ext cx="1688690" cy="8842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7929" y="80902"/>
            <a:ext cx="8229600" cy="1143000"/>
          </a:xfrm>
        </p:spPr>
        <p:txBody>
          <a:bodyPr>
            <a:normAutofit/>
          </a:bodyPr>
          <a:lstStyle/>
          <a:p>
            <a:pPr algn="just"/>
            <a:r>
              <a:rPr lang="en-US" sz="4000" b="1" dirty="0">
                <a:latin typeface="Times New Roman" panose="02020603050405020304" pitchFamily="18" charset="0"/>
                <a:cs typeface="Times New Roman" panose="02020603050405020304" pitchFamily="18" charset="0"/>
              </a:rPr>
              <a:t>Introduction</a:t>
            </a:r>
            <a:r>
              <a:rPr lang="en-US" sz="4000" dirty="0">
                <a:latin typeface="Times New Roman" panose="02020603050405020304" pitchFamily="18" charset="0"/>
                <a:cs typeface="Times New Roman" panose="02020603050405020304" pitchFamily="18" charset="0"/>
              </a:rPr>
              <a:t> </a:t>
            </a:r>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995517" y="1223902"/>
            <a:ext cx="10596715" cy="5437239"/>
          </a:xfrm>
        </p:spPr>
        <p:txBody>
          <a:bodyPr>
            <a:noAutofit/>
          </a:bodyPr>
          <a:lstStyle/>
          <a:p>
            <a:pPr algn="just"/>
            <a:r>
              <a:rPr lang="en-IN" sz="2000" dirty="0">
                <a:latin typeface="Times New Roman" panose="02020603050405020304" pitchFamily="18" charset="0"/>
                <a:cs typeface="Times New Roman" panose="02020603050405020304" pitchFamily="18" charset="0"/>
              </a:rPr>
              <a:t>The emergence of ride-sharing platforms has significantly reshaped urban mobility, offering passengers a convenient, technology-driven alternative to traditional modes of transportation.</a:t>
            </a:r>
          </a:p>
          <a:p>
            <a:pPr algn="just"/>
            <a:r>
              <a:rPr lang="en-IN" sz="2000" dirty="0">
                <a:latin typeface="Times New Roman" panose="02020603050405020304" pitchFamily="18" charset="0"/>
                <a:cs typeface="Times New Roman" panose="02020603050405020304" pitchFamily="18" charset="0"/>
              </a:rPr>
              <a:t>These platforms generate massive volumes of data daily — including trip requests, real-time driver locations, fare details, and user behavior patterns — making efficient data analysis critical for service improvement.</a:t>
            </a:r>
          </a:p>
          <a:p>
            <a:pPr algn="just"/>
            <a:r>
              <a:rPr lang="en-IN" sz="2000" dirty="0">
                <a:latin typeface="Times New Roman" panose="02020603050405020304" pitchFamily="18" charset="0"/>
                <a:cs typeface="Times New Roman" panose="02020603050405020304" pitchFamily="18" charset="0"/>
              </a:rPr>
              <a:t>Despite this abundance of data, many platforms lack a structured analytical framework to convert raw data into actionable business insights.</a:t>
            </a:r>
          </a:p>
          <a:p>
            <a:pPr algn="just"/>
            <a:r>
              <a:rPr lang="en-IN" sz="2000" dirty="0">
                <a:latin typeface="Times New Roman" panose="02020603050405020304" pitchFamily="18" charset="0"/>
                <a:cs typeface="Times New Roman" panose="02020603050405020304" pitchFamily="18" charset="0"/>
              </a:rPr>
              <a:t>Common operational challenges include inconsistent driver availability during peak hours, inefficient route allocation, and unpredictable fare surges, all of which affect customer satisfaction and platform reliability.</a:t>
            </a:r>
          </a:p>
          <a:p>
            <a:pPr algn="just"/>
            <a:r>
              <a:rPr lang="en-IN" sz="2000" dirty="0">
                <a:latin typeface="Times New Roman" panose="02020603050405020304" pitchFamily="18" charset="0"/>
                <a:cs typeface="Times New Roman" panose="02020603050405020304" pitchFamily="18" charset="0"/>
              </a:rPr>
              <a:t>This project addresses these challenges by developing a Ride-Sharing Analytics Platform that processes trip data through automated pipelines to generate insights on demand, traffic, and driver performance.</a:t>
            </a:r>
          </a:p>
          <a:p>
            <a:pPr algn="just"/>
            <a:r>
              <a:rPr lang="en-IN" sz="2000" dirty="0">
                <a:latin typeface="Times New Roman" panose="02020603050405020304" pitchFamily="18" charset="0"/>
                <a:cs typeface="Times New Roman" panose="02020603050405020304" pitchFamily="18" charset="0"/>
              </a:rPr>
              <a:t>The system leverages modern data engineering tools to deliver a scalable, real-time analytics solution that supports informed, data-driven decision-making</a:t>
            </a:r>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371F-32E3-E199-7CB7-205DF928BB2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Objectives</a:t>
            </a:r>
            <a:endParaRPr lang="en-US" sz="4000" dirty="0"/>
          </a:p>
        </p:txBody>
      </p:sp>
      <p:sp>
        <p:nvSpPr>
          <p:cNvPr id="3" name="Content Placeholder 2">
            <a:extLst>
              <a:ext uri="{FF2B5EF4-FFF2-40B4-BE49-F238E27FC236}">
                <a16:creationId xmlns:a16="http://schemas.microsoft.com/office/drawing/2014/main" id="{9E73EB7B-A5AD-3A16-3988-13BBBAB9D220}"/>
              </a:ext>
            </a:extLst>
          </p:cNvPr>
          <p:cNvSpPr>
            <a:spLocks noGrp="1"/>
          </p:cNvSpPr>
          <p:nvPr>
            <p:ph idx="1"/>
          </p:nvPr>
        </p:nvSpPr>
        <p:spPr/>
        <p:txBody>
          <a:bodyPr>
            <a:normAutofit fontScale="77500" lnSpcReduction="20000"/>
          </a:bodyPr>
          <a:lstStyle/>
          <a:p>
            <a:pPr lvl="0" algn="just"/>
            <a:r>
              <a:rPr lang="en-US" dirty="0">
                <a:latin typeface="Times New Roman" panose="02020603050405020304" pitchFamily="18" charset="0"/>
                <a:cs typeface="Times New Roman" panose="02020603050405020304" pitchFamily="18" charset="0"/>
              </a:rPr>
              <a:t>To design and develop a data analytics platform that stores comprehensive ride-sharing trip information (pickup/drop location, fare, duration)</a:t>
            </a:r>
          </a:p>
          <a:p>
            <a:pPr lvl="0" algn="just"/>
            <a:r>
              <a:rPr lang="en-US" dirty="0">
                <a:latin typeface="Times New Roman" panose="02020603050405020304" pitchFamily="18" charset="0"/>
                <a:cs typeface="Times New Roman" panose="02020603050405020304" pitchFamily="18" charset="0"/>
              </a:rPr>
              <a:t>To calculate and visualize peak traffic hours across different zones for better fleet planning</a:t>
            </a:r>
          </a:p>
          <a:p>
            <a:pPr lvl="0" algn="just"/>
            <a:r>
              <a:rPr lang="en-US" dirty="0">
                <a:latin typeface="Times New Roman" panose="02020603050405020304" pitchFamily="18" charset="0"/>
                <a:cs typeface="Times New Roman" panose="02020603050405020304" pitchFamily="18" charset="0"/>
              </a:rPr>
              <a:t>To build a module for tracking and evaluating individual driver performance</a:t>
            </a:r>
          </a:p>
          <a:p>
            <a:pPr lvl="0" algn="just"/>
            <a:r>
              <a:rPr lang="en-US" dirty="0">
                <a:latin typeface="Times New Roman" panose="02020603050405020304" pitchFamily="18" charset="0"/>
                <a:cs typeface="Times New Roman" panose="02020603050405020304" pitchFamily="18" charset="0"/>
              </a:rPr>
              <a:t>To implement a predictive model that forecasts future ride demand using historical data</a:t>
            </a:r>
          </a:p>
          <a:p>
            <a:pPr lvl="0" algn="just"/>
            <a:r>
              <a:rPr lang="en-US" dirty="0">
                <a:latin typeface="Times New Roman" panose="02020603050405020304" pitchFamily="18" charset="0"/>
                <a:cs typeface="Times New Roman" panose="02020603050405020304" pitchFamily="18" charset="0"/>
              </a:rPr>
              <a:t>To build automated ETL pipelines using Apache Airflow for reliable, scheduled data processing</a:t>
            </a:r>
          </a:p>
          <a:p>
            <a:pPr lvl="0" algn="just"/>
            <a:r>
              <a:rPr lang="en-US" dirty="0">
                <a:latin typeface="Times New Roman" panose="02020603050405020304" pitchFamily="18" charset="0"/>
                <a:cs typeface="Times New Roman" panose="02020603050405020304" pitchFamily="18" charset="0"/>
              </a:rPr>
              <a:t>To enable real-time data ingestion using Apache Kafka for continuous trip event streaming</a:t>
            </a:r>
          </a:p>
          <a:p>
            <a:pPr lvl="0" algn="just"/>
            <a:r>
              <a:rPr lang="en-US" dirty="0">
                <a:latin typeface="Times New Roman" panose="02020603050405020304" pitchFamily="18" charset="0"/>
                <a:cs typeface="Times New Roman" panose="02020603050405020304" pitchFamily="18" charset="0"/>
              </a:rPr>
              <a:t>To containerize the entire application using Docker for consistent, scalable deployment</a:t>
            </a:r>
          </a:p>
          <a:p>
            <a:pPr lvl="0" algn="just"/>
            <a:r>
              <a:rPr lang="en-US" dirty="0">
                <a:latin typeface="Times New Roman" panose="02020603050405020304" pitchFamily="18" charset="0"/>
                <a:cs typeface="Times New Roman" panose="02020603050405020304" pitchFamily="18" charset="0"/>
              </a:rPr>
              <a:t>To present all insights through an interactive Power BI dashboard for data-driven decision-making</a:t>
            </a:r>
          </a:p>
          <a:p>
            <a:pPr algn="just"/>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B83E25D-E7F5-1A40-F84D-3D282FF569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2077106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EDB52-9E89-6B7D-A84C-869AE4086675}"/>
              </a:ext>
            </a:extLst>
          </p:cNvPr>
          <p:cNvSpPr>
            <a:spLocks noGrp="1"/>
          </p:cNvSpPr>
          <p:nvPr>
            <p:ph type="title"/>
          </p:nvPr>
        </p:nvSpPr>
        <p:spPr>
          <a:xfrm>
            <a:off x="3340768" y="500062"/>
            <a:ext cx="10515600" cy="1325563"/>
          </a:xfrm>
        </p:spPr>
        <p:txBody>
          <a:bodyPr/>
          <a:lstStyle/>
          <a:p>
            <a:r>
              <a:rPr lang="en-IN" b="1" dirty="0">
                <a:latin typeface="Times New Roman" panose="02020603050405020304" pitchFamily="18" charset="0"/>
                <a:cs typeface="Times New Roman" panose="02020603050405020304" pitchFamily="18" charset="0"/>
              </a:rPr>
              <a:t>Existing </a:t>
            </a:r>
            <a:r>
              <a:rPr lang="en-IN" sz="4000" b="1" dirty="0">
                <a:latin typeface="Times New Roman" panose="02020603050405020304" pitchFamily="18" charset="0"/>
                <a:cs typeface="Times New Roman" panose="02020603050405020304" pitchFamily="18" charset="0"/>
              </a:rPr>
              <a:t>System</a:t>
            </a:r>
          </a:p>
        </p:txBody>
      </p:sp>
      <p:sp>
        <p:nvSpPr>
          <p:cNvPr id="3" name="Content Placeholder 2">
            <a:extLst>
              <a:ext uri="{FF2B5EF4-FFF2-40B4-BE49-F238E27FC236}">
                <a16:creationId xmlns:a16="http://schemas.microsoft.com/office/drawing/2014/main" id="{7474A7CE-2A86-DDFC-4E30-A3A637095550}"/>
              </a:ext>
            </a:extLst>
          </p:cNvPr>
          <p:cNvSpPr>
            <a:spLocks noGrp="1"/>
          </p:cNvSpPr>
          <p:nvPr>
            <p:ph idx="1"/>
          </p:nvPr>
        </p:nvSpPr>
        <p:spPr/>
        <p:txBody>
          <a:bodyPr>
            <a:normAutofit/>
          </a:bodyPr>
          <a:lstStyle/>
          <a:p>
            <a:pPr lvl="0"/>
            <a:r>
              <a:rPr lang="en-IN" sz="2400" dirty="0">
                <a:latin typeface="Times New Roman" panose="02020603050405020304" pitchFamily="18" charset="0"/>
                <a:cs typeface="Times New Roman" panose="02020603050405020304" pitchFamily="18" charset="0"/>
              </a:rPr>
              <a:t>Existing ride-sharing platforms collect trip, driver, fare, and user-related data. </a:t>
            </a:r>
          </a:p>
          <a:p>
            <a:pPr lvl="0"/>
            <a:r>
              <a:rPr lang="en-IN" sz="2400" dirty="0">
                <a:latin typeface="Times New Roman" panose="02020603050405020304" pitchFamily="18" charset="0"/>
                <a:cs typeface="Times New Roman" panose="02020603050405020304" pitchFamily="18" charset="0"/>
              </a:rPr>
              <a:t>Data is generally stored across different systems and databases. </a:t>
            </a:r>
          </a:p>
          <a:p>
            <a:pPr lvl="0"/>
            <a:r>
              <a:rPr lang="en-IN" sz="2400" dirty="0">
                <a:latin typeface="Times New Roman" panose="02020603050405020304" pitchFamily="18" charset="0"/>
                <a:cs typeface="Times New Roman" panose="02020603050405020304" pitchFamily="18" charset="0"/>
              </a:rPr>
              <a:t>Analysis is mainly performed on previously collected trip data. </a:t>
            </a:r>
          </a:p>
          <a:p>
            <a:pPr lvl="0"/>
            <a:r>
              <a:rPr lang="en-IN" sz="2400" dirty="0">
                <a:latin typeface="Times New Roman" panose="02020603050405020304" pitchFamily="18" charset="0"/>
                <a:cs typeface="Times New Roman" panose="02020603050405020304" pitchFamily="18" charset="0"/>
              </a:rPr>
              <a:t>Peak traffic and ride-demand patterns are identified from historical data. </a:t>
            </a:r>
          </a:p>
          <a:p>
            <a:pPr lvl="0"/>
            <a:r>
              <a:rPr lang="en-IN" sz="2400" dirty="0">
                <a:latin typeface="Times New Roman" panose="02020603050405020304" pitchFamily="18" charset="0"/>
                <a:cs typeface="Times New Roman" panose="02020603050405020304" pitchFamily="18" charset="0"/>
              </a:rPr>
              <a:t>Driver performance is evaluated using available trip information. </a:t>
            </a:r>
          </a:p>
          <a:p>
            <a:pPr lvl="0"/>
            <a:r>
              <a:rPr lang="en-IN" sz="2400" dirty="0">
                <a:latin typeface="Times New Roman" panose="02020603050405020304" pitchFamily="18" charset="0"/>
                <a:cs typeface="Times New Roman" panose="02020603050405020304" pitchFamily="18" charset="0"/>
              </a:rPr>
              <a:t>Data processing may involve separate tools for storage, processing, and visualization. </a:t>
            </a:r>
          </a:p>
          <a:p>
            <a:pPr lvl="0"/>
            <a:r>
              <a:rPr lang="en-IN" sz="2400" dirty="0">
                <a:latin typeface="Times New Roman" panose="02020603050405020304" pitchFamily="18" charset="0"/>
                <a:cs typeface="Times New Roman" panose="02020603050405020304" pitchFamily="18" charset="0"/>
              </a:rPr>
              <a:t>Real-time streaming and automated ETL are not fully integrated into a single analytical workflow. </a:t>
            </a:r>
          </a:p>
          <a:p>
            <a:endParaRPr lang="en-IN" dirty="0"/>
          </a:p>
        </p:txBody>
      </p:sp>
      <p:pic>
        <p:nvPicPr>
          <p:cNvPr id="5" name="Picture 4">
            <a:extLst>
              <a:ext uri="{FF2B5EF4-FFF2-40B4-BE49-F238E27FC236}">
                <a16:creationId xmlns:a16="http://schemas.microsoft.com/office/drawing/2014/main" id="{05BDA6EE-90B0-5B2E-F342-9D97F341DE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954" y="88697"/>
            <a:ext cx="1676400" cy="822730"/>
          </a:xfrm>
          <a:prstGeom prst="rect">
            <a:avLst/>
          </a:prstGeom>
          <a:noFill/>
          <a:ln>
            <a:noFill/>
          </a:ln>
        </p:spPr>
      </p:pic>
    </p:spTree>
    <p:extLst>
      <p:ext uri="{BB962C8B-B14F-4D97-AF65-F5344CB8AC3E}">
        <p14:creationId xmlns:p14="http://schemas.microsoft.com/office/powerpoint/2010/main" val="705040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2C54C-C303-3FFF-4DDA-C030B5E783B1}"/>
              </a:ext>
            </a:extLst>
          </p:cNvPr>
          <p:cNvSpPr>
            <a:spLocks noGrp="1"/>
          </p:cNvSpPr>
          <p:nvPr>
            <p:ph type="title"/>
          </p:nvPr>
        </p:nvSpPr>
        <p:spPr>
          <a:xfrm>
            <a:off x="2546684" y="365125"/>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Limitations of Existing System</a:t>
            </a:r>
            <a:r>
              <a:rPr lang="en-IN" sz="40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D2F601B5-B429-44DC-16C7-27449AFC25E6}"/>
              </a:ext>
            </a:extLst>
          </p:cNvPr>
          <p:cNvSpPr>
            <a:spLocks noGrp="1"/>
          </p:cNvSpPr>
          <p:nvPr>
            <p:ph idx="1"/>
          </p:nvPr>
        </p:nvSpPr>
        <p:spPr/>
        <p:txBody>
          <a:bodyPr>
            <a:normAutofit fontScale="92500"/>
          </a:bodyPr>
          <a:lstStyle/>
          <a:p>
            <a:pPr lvl="0"/>
            <a:r>
              <a:rPr lang="en-IN" sz="2400" b="1" dirty="0">
                <a:latin typeface="Times New Roman" panose="02020603050405020304" pitchFamily="18" charset="0"/>
                <a:cs typeface="Times New Roman" panose="02020603050405020304" pitchFamily="18" charset="0"/>
              </a:rPr>
              <a:t>Delayed Data Analysis:</a:t>
            </a:r>
            <a:r>
              <a:rPr lang="en-IN" sz="2400" dirty="0">
                <a:latin typeface="Times New Roman" panose="02020603050405020304" pitchFamily="18" charset="0"/>
                <a:cs typeface="Times New Roman" panose="02020603050405020304" pitchFamily="18" charset="0"/>
              </a:rPr>
              <a:t> Insights may not be available immediately when new trip data arrives. </a:t>
            </a:r>
          </a:p>
          <a:p>
            <a:pPr lvl="0"/>
            <a:r>
              <a:rPr lang="en-IN" sz="2400" b="1" dirty="0">
                <a:latin typeface="Times New Roman" panose="02020603050405020304" pitchFamily="18" charset="0"/>
                <a:cs typeface="Times New Roman" panose="02020603050405020304" pitchFamily="18" charset="0"/>
              </a:rPr>
              <a:t>Demand Uncertainty:</a:t>
            </a:r>
            <a:r>
              <a:rPr lang="en-IN" sz="2400" dirty="0">
                <a:latin typeface="Times New Roman" panose="02020603050405020304" pitchFamily="18" charset="0"/>
                <a:cs typeface="Times New Roman" panose="02020603050405020304" pitchFamily="18" charset="0"/>
              </a:rPr>
              <a:t> Sudden changes in ride demand are difficult to identify. </a:t>
            </a:r>
          </a:p>
          <a:p>
            <a:pPr lvl="0"/>
            <a:r>
              <a:rPr lang="en-IN" sz="2400" b="1" dirty="0">
                <a:latin typeface="Times New Roman" panose="02020603050405020304" pitchFamily="18" charset="0"/>
                <a:cs typeface="Times New Roman" panose="02020603050405020304" pitchFamily="18" charset="0"/>
              </a:rPr>
              <a:t>Driver Availability:</a:t>
            </a:r>
            <a:r>
              <a:rPr lang="en-IN" sz="2400" dirty="0">
                <a:latin typeface="Times New Roman" panose="02020603050405020304" pitchFamily="18" charset="0"/>
                <a:cs typeface="Times New Roman" panose="02020603050405020304" pitchFamily="18" charset="0"/>
              </a:rPr>
              <a:t> Maintaining sufficient drivers during peak hours can be challenging. </a:t>
            </a:r>
          </a:p>
          <a:p>
            <a:pPr lvl="0"/>
            <a:r>
              <a:rPr lang="en-IN" sz="2400" b="1" dirty="0">
                <a:latin typeface="Times New Roman" panose="02020603050405020304" pitchFamily="18" charset="0"/>
                <a:cs typeface="Times New Roman" panose="02020603050405020304" pitchFamily="18" charset="0"/>
              </a:rPr>
              <a:t>Inefficient Fleet Planning:</a:t>
            </a:r>
            <a:r>
              <a:rPr lang="en-IN" sz="2400" dirty="0">
                <a:latin typeface="Times New Roman" panose="02020603050405020304" pitchFamily="18" charset="0"/>
                <a:cs typeface="Times New Roman" panose="02020603050405020304" pitchFamily="18" charset="0"/>
              </a:rPr>
              <a:t> Lack of timely insights can affect driver and vehicle allocation. </a:t>
            </a:r>
          </a:p>
          <a:p>
            <a:pPr lvl="0"/>
            <a:r>
              <a:rPr lang="en-IN" sz="2400" b="1" dirty="0">
                <a:latin typeface="Times New Roman" panose="02020603050405020304" pitchFamily="18" charset="0"/>
                <a:cs typeface="Times New Roman" panose="02020603050405020304" pitchFamily="18" charset="0"/>
              </a:rPr>
              <a:t>Fare Surge Challenges:</a:t>
            </a:r>
            <a:r>
              <a:rPr lang="en-IN" sz="2400" dirty="0">
                <a:latin typeface="Times New Roman" panose="02020603050405020304" pitchFamily="18" charset="0"/>
                <a:cs typeface="Times New Roman" panose="02020603050405020304" pitchFamily="18" charset="0"/>
              </a:rPr>
              <a:t> Sudden demand variations can result in unpredictable fare changes. </a:t>
            </a:r>
          </a:p>
          <a:p>
            <a:pPr lvl="0"/>
            <a:r>
              <a:rPr lang="en-IN" sz="2400" b="1" dirty="0">
                <a:latin typeface="Times New Roman" panose="02020603050405020304" pitchFamily="18" charset="0"/>
                <a:cs typeface="Times New Roman" panose="02020603050405020304" pitchFamily="18" charset="0"/>
              </a:rPr>
              <a:t>Data Silos:</a:t>
            </a:r>
            <a:r>
              <a:rPr lang="en-IN" sz="2400" dirty="0">
                <a:latin typeface="Times New Roman" panose="02020603050405020304" pitchFamily="18" charset="0"/>
                <a:cs typeface="Times New Roman" panose="02020603050405020304" pitchFamily="18" charset="0"/>
              </a:rPr>
              <a:t> Data from different sources may be difficult to integrate. </a:t>
            </a:r>
          </a:p>
          <a:p>
            <a:pPr lvl="0"/>
            <a:r>
              <a:rPr lang="en-IN" sz="2400" b="1" dirty="0">
                <a:latin typeface="Times New Roman" panose="02020603050405020304" pitchFamily="18" charset="0"/>
                <a:cs typeface="Times New Roman" panose="02020603050405020304" pitchFamily="18" charset="0"/>
              </a:rPr>
              <a:t>Limited Automation:</a:t>
            </a:r>
            <a:r>
              <a:rPr lang="en-IN" sz="2400" dirty="0">
                <a:latin typeface="Times New Roman" panose="02020603050405020304" pitchFamily="18" charset="0"/>
                <a:cs typeface="Times New Roman" panose="02020603050405020304" pitchFamily="18" charset="0"/>
              </a:rPr>
              <a:t> Manual data processing can increase processing time. </a:t>
            </a:r>
          </a:p>
          <a:p>
            <a:pPr lvl="0"/>
            <a:r>
              <a:rPr lang="en-IN" sz="2400" b="1" dirty="0">
                <a:latin typeface="Times New Roman" panose="02020603050405020304" pitchFamily="18" charset="0"/>
                <a:cs typeface="Times New Roman" panose="02020603050405020304" pitchFamily="18" charset="0"/>
              </a:rPr>
              <a:t>Scalability Issues:</a:t>
            </a:r>
            <a:r>
              <a:rPr lang="en-IN" sz="2400" dirty="0">
                <a:latin typeface="Times New Roman" panose="02020603050405020304" pitchFamily="18" charset="0"/>
                <a:cs typeface="Times New Roman" panose="02020603050405020304" pitchFamily="18" charset="0"/>
              </a:rPr>
              <a:t> Handling continuously increasing ride data can become difficult.</a:t>
            </a:r>
          </a:p>
          <a:p>
            <a:endParaRPr lang="en-IN" dirty="0"/>
          </a:p>
        </p:txBody>
      </p:sp>
      <p:pic>
        <p:nvPicPr>
          <p:cNvPr id="5" name="Picture 4">
            <a:extLst>
              <a:ext uri="{FF2B5EF4-FFF2-40B4-BE49-F238E27FC236}">
                <a16:creationId xmlns:a16="http://schemas.microsoft.com/office/drawing/2014/main" id="{489E9719-A2CC-B6EA-F2E8-B7345FE6C3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954" y="88697"/>
            <a:ext cx="1676400" cy="822730"/>
          </a:xfrm>
          <a:prstGeom prst="rect">
            <a:avLst/>
          </a:prstGeom>
          <a:noFill/>
          <a:ln>
            <a:noFill/>
          </a:ln>
        </p:spPr>
      </p:pic>
    </p:spTree>
    <p:extLst>
      <p:ext uri="{BB962C8B-B14F-4D97-AF65-F5344CB8AC3E}">
        <p14:creationId xmlns:p14="http://schemas.microsoft.com/office/powerpoint/2010/main" val="1464297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DAF45-131F-4404-37A7-0A1D405B91BD}"/>
              </a:ext>
            </a:extLst>
          </p:cNvPr>
          <p:cNvSpPr>
            <a:spLocks noGrp="1"/>
          </p:cNvSpPr>
          <p:nvPr>
            <p:ph type="title"/>
          </p:nvPr>
        </p:nvSpPr>
        <p:spPr>
          <a:xfrm>
            <a:off x="3812458" y="371723"/>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Proposed System</a:t>
            </a:r>
            <a:r>
              <a:rPr lang="en-IN" sz="40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D6227F8A-AC1A-0F4A-13D1-4695EA3353FE}"/>
              </a:ext>
            </a:extLst>
          </p:cNvPr>
          <p:cNvSpPr>
            <a:spLocks noGrp="1"/>
          </p:cNvSpPr>
          <p:nvPr>
            <p:ph idx="1"/>
          </p:nvPr>
        </p:nvSpPr>
        <p:spPr/>
        <p:txBody>
          <a:bodyPr>
            <a:normAutofit/>
          </a:bodyPr>
          <a:lstStyle/>
          <a:p>
            <a:pPr lvl="0"/>
            <a:r>
              <a:rPr lang="en-IN" sz="2200" dirty="0">
                <a:latin typeface="Times New Roman" panose="02020603050405020304" pitchFamily="18" charset="0"/>
                <a:cs typeface="Times New Roman" panose="02020603050405020304" pitchFamily="18" charset="0"/>
              </a:rPr>
              <a:t>Develop a </a:t>
            </a:r>
            <a:r>
              <a:rPr lang="en-IN" sz="2200" b="1" dirty="0">
                <a:latin typeface="Times New Roman" panose="02020603050405020304" pitchFamily="18" charset="0"/>
                <a:cs typeface="Times New Roman" panose="02020603050405020304" pitchFamily="18" charset="0"/>
              </a:rPr>
              <a:t>Ride-Sharing Analytics Platform</a:t>
            </a:r>
            <a:r>
              <a:rPr lang="en-IN" sz="2200" dirty="0">
                <a:latin typeface="Times New Roman" panose="02020603050405020304" pitchFamily="18" charset="0"/>
                <a:cs typeface="Times New Roman" panose="02020603050405020304" pitchFamily="18" charset="0"/>
              </a:rPr>
              <a:t> for centralized ride-data analysis. </a:t>
            </a:r>
          </a:p>
          <a:p>
            <a:pPr lvl="0"/>
            <a:r>
              <a:rPr lang="en-IN" sz="2200" dirty="0">
                <a:latin typeface="Times New Roman" panose="02020603050405020304" pitchFamily="18" charset="0"/>
                <a:cs typeface="Times New Roman" panose="02020603050405020304" pitchFamily="18" charset="0"/>
              </a:rPr>
              <a:t>Store trip, driver, and payment data in </a:t>
            </a:r>
            <a:r>
              <a:rPr lang="en-IN" sz="2200" b="1" dirty="0">
                <a:latin typeface="Times New Roman" panose="02020603050405020304" pitchFamily="18" charset="0"/>
                <a:cs typeface="Times New Roman" panose="02020603050405020304" pitchFamily="18" charset="0"/>
              </a:rPr>
              <a:t>PostgreSQL</a:t>
            </a:r>
            <a:r>
              <a:rPr lang="en-IN" sz="2200" dirty="0">
                <a:latin typeface="Times New Roman" panose="02020603050405020304" pitchFamily="18" charset="0"/>
                <a:cs typeface="Times New Roman" panose="02020603050405020304" pitchFamily="18" charset="0"/>
              </a:rPr>
              <a:t>. </a:t>
            </a:r>
          </a:p>
          <a:p>
            <a:pPr lvl="0"/>
            <a:r>
              <a:rPr lang="en-IN" sz="2200" dirty="0">
                <a:latin typeface="Times New Roman" panose="02020603050405020304" pitchFamily="18" charset="0"/>
                <a:cs typeface="Times New Roman" panose="02020603050405020304" pitchFamily="18" charset="0"/>
              </a:rPr>
              <a:t>Use </a:t>
            </a:r>
            <a:r>
              <a:rPr lang="en-IN" sz="2200" b="1" dirty="0">
                <a:latin typeface="Times New Roman" panose="02020603050405020304" pitchFamily="18" charset="0"/>
                <a:cs typeface="Times New Roman" panose="02020603050405020304" pitchFamily="18" charset="0"/>
              </a:rPr>
              <a:t>Apache Kafka</a:t>
            </a:r>
            <a:r>
              <a:rPr lang="en-IN" sz="2200" dirty="0">
                <a:latin typeface="Times New Roman" panose="02020603050405020304" pitchFamily="18" charset="0"/>
                <a:cs typeface="Times New Roman" panose="02020603050405020304" pitchFamily="18" charset="0"/>
              </a:rPr>
              <a:t> for real-time trip-event streaming. </a:t>
            </a:r>
          </a:p>
          <a:p>
            <a:pPr lvl="0"/>
            <a:r>
              <a:rPr lang="en-IN" sz="2200" dirty="0">
                <a:latin typeface="Times New Roman" panose="02020603050405020304" pitchFamily="18" charset="0"/>
                <a:cs typeface="Times New Roman" panose="02020603050405020304" pitchFamily="18" charset="0"/>
              </a:rPr>
              <a:t>Use </a:t>
            </a:r>
            <a:r>
              <a:rPr lang="en-IN" sz="2200" b="1" dirty="0">
                <a:latin typeface="Times New Roman" panose="02020603050405020304" pitchFamily="18" charset="0"/>
                <a:cs typeface="Times New Roman" panose="02020603050405020304" pitchFamily="18" charset="0"/>
              </a:rPr>
              <a:t>Apache Airflow</a:t>
            </a:r>
            <a:r>
              <a:rPr lang="en-IN" sz="2200" dirty="0">
                <a:latin typeface="Times New Roman" panose="02020603050405020304" pitchFamily="18" charset="0"/>
                <a:cs typeface="Times New Roman" panose="02020603050405020304" pitchFamily="18" charset="0"/>
              </a:rPr>
              <a:t> to automate ETL pipelines. </a:t>
            </a:r>
          </a:p>
          <a:p>
            <a:pPr lvl="0"/>
            <a:r>
              <a:rPr lang="en-IN" sz="2200" dirty="0">
                <a:latin typeface="Times New Roman" panose="02020603050405020304" pitchFamily="18" charset="0"/>
                <a:cs typeface="Times New Roman" panose="02020603050405020304" pitchFamily="18" charset="0"/>
              </a:rPr>
              <a:t>Use </a:t>
            </a:r>
            <a:r>
              <a:rPr lang="en-IN" sz="2200" b="1" dirty="0">
                <a:latin typeface="Times New Roman" panose="02020603050405020304" pitchFamily="18" charset="0"/>
                <a:cs typeface="Times New Roman" panose="02020603050405020304" pitchFamily="18" charset="0"/>
              </a:rPr>
              <a:t>Python</a:t>
            </a:r>
            <a:r>
              <a:rPr lang="en-IN" sz="2200" dirty="0">
                <a:latin typeface="Times New Roman" panose="02020603050405020304" pitchFamily="18" charset="0"/>
                <a:cs typeface="Times New Roman" panose="02020603050405020304" pitchFamily="18" charset="0"/>
              </a:rPr>
              <a:t> for data processing and demand prediction. </a:t>
            </a:r>
          </a:p>
          <a:p>
            <a:pPr lvl="0"/>
            <a:r>
              <a:rPr lang="en-IN" sz="2200" dirty="0">
                <a:latin typeface="Times New Roman" panose="02020603050405020304" pitchFamily="18" charset="0"/>
                <a:cs typeface="Times New Roman" panose="02020603050405020304" pitchFamily="18" charset="0"/>
              </a:rPr>
              <a:t>Analyze </a:t>
            </a:r>
            <a:r>
              <a:rPr lang="en-IN" sz="2200" b="1" dirty="0">
                <a:latin typeface="Times New Roman" panose="02020603050405020304" pitchFamily="18" charset="0"/>
                <a:cs typeface="Times New Roman" panose="02020603050405020304" pitchFamily="18" charset="0"/>
              </a:rPr>
              <a:t>peak hours, traffic patterns, demand trends, and driver performance</a:t>
            </a:r>
            <a:r>
              <a:rPr lang="en-IN" sz="2200" dirty="0">
                <a:latin typeface="Times New Roman" panose="02020603050405020304" pitchFamily="18" charset="0"/>
                <a:cs typeface="Times New Roman" panose="02020603050405020304" pitchFamily="18" charset="0"/>
              </a:rPr>
              <a:t>. </a:t>
            </a:r>
          </a:p>
          <a:p>
            <a:pPr lvl="0"/>
            <a:r>
              <a:rPr lang="en-IN" sz="2200" dirty="0">
                <a:latin typeface="Times New Roman" panose="02020603050405020304" pitchFamily="18" charset="0"/>
                <a:cs typeface="Times New Roman" panose="02020603050405020304" pitchFamily="18" charset="0"/>
              </a:rPr>
              <a:t>Use </a:t>
            </a:r>
            <a:r>
              <a:rPr lang="en-IN" sz="2200" b="1" dirty="0">
                <a:latin typeface="Times New Roman" panose="02020603050405020304" pitchFamily="18" charset="0"/>
                <a:cs typeface="Times New Roman" panose="02020603050405020304" pitchFamily="18" charset="0"/>
              </a:rPr>
              <a:t>Power BI</a:t>
            </a:r>
            <a:r>
              <a:rPr lang="en-IN" sz="2200" dirty="0">
                <a:latin typeface="Times New Roman" panose="02020603050405020304" pitchFamily="18" charset="0"/>
                <a:cs typeface="Times New Roman" panose="02020603050405020304" pitchFamily="18" charset="0"/>
              </a:rPr>
              <a:t> for interactive visualization and dashboards. </a:t>
            </a:r>
          </a:p>
          <a:p>
            <a:pPr lvl="0"/>
            <a:r>
              <a:rPr lang="en-IN" sz="2200" dirty="0">
                <a:latin typeface="Times New Roman" panose="02020603050405020304" pitchFamily="18" charset="0"/>
                <a:cs typeface="Times New Roman" panose="02020603050405020304" pitchFamily="18" charset="0"/>
              </a:rPr>
              <a:t>Use </a:t>
            </a:r>
            <a:r>
              <a:rPr lang="en-IN" sz="2200" b="1" dirty="0">
                <a:latin typeface="Times New Roman" panose="02020603050405020304" pitchFamily="18" charset="0"/>
                <a:cs typeface="Times New Roman" panose="02020603050405020304" pitchFamily="18" charset="0"/>
              </a:rPr>
              <a:t>Docker</a:t>
            </a:r>
            <a:r>
              <a:rPr lang="en-IN" sz="2200" dirty="0">
                <a:latin typeface="Times New Roman" panose="02020603050405020304" pitchFamily="18" charset="0"/>
                <a:cs typeface="Times New Roman" panose="02020603050405020304" pitchFamily="18" charset="0"/>
              </a:rPr>
              <a:t> for containerized and scalable deployment. </a:t>
            </a:r>
          </a:p>
          <a:p>
            <a:pPr lvl="0"/>
            <a:r>
              <a:rPr lang="en-IN" sz="2200" dirty="0">
                <a:latin typeface="Times New Roman" panose="02020603050405020304" pitchFamily="18" charset="0"/>
                <a:cs typeface="Times New Roman" panose="02020603050405020304" pitchFamily="18" charset="0"/>
              </a:rPr>
              <a:t>Provide data-driven insights for better fleet management and decision-making.</a:t>
            </a:r>
          </a:p>
          <a:p>
            <a:endParaRPr lang="en-IN" dirty="0"/>
          </a:p>
        </p:txBody>
      </p:sp>
      <p:pic>
        <p:nvPicPr>
          <p:cNvPr id="5" name="Picture 4">
            <a:extLst>
              <a:ext uri="{FF2B5EF4-FFF2-40B4-BE49-F238E27FC236}">
                <a16:creationId xmlns:a16="http://schemas.microsoft.com/office/drawing/2014/main" id="{8FEC19C5-22C4-F95C-314C-EE5D723D46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954" y="88697"/>
            <a:ext cx="1676400" cy="822730"/>
          </a:xfrm>
          <a:prstGeom prst="rect">
            <a:avLst/>
          </a:prstGeom>
          <a:noFill/>
          <a:ln>
            <a:noFill/>
          </a:ln>
        </p:spPr>
      </p:pic>
    </p:spTree>
    <p:extLst>
      <p:ext uri="{BB962C8B-B14F-4D97-AF65-F5344CB8AC3E}">
        <p14:creationId xmlns:p14="http://schemas.microsoft.com/office/powerpoint/2010/main" val="3194469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287B0-17A0-F7EC-1A72-52A5C87B14AB}"/>
              </a:ext>
            </a:extLst>
          </p:cNvPr>
          <p:cNvSpPr>
            <a:spLocks noGrp="1"/>
          </p:cNvSpPr>
          <p:nvPr>
            <p:ph type="title"/>
          </p:nvPr>
        </p:nvSpPr>
        <p:spPr>
          <a:xfrm>
            <a:off x="617481"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endParaRPr lang="en-US" sz="4000" dirty="0"/>
          </a:p>
        </p:txBody>
      </p:sp>
      <p:graphicFrame>
        <p:nvGraphicFramePr>
          <p:cNvPr id="6" name="Content Placeholder 5">
            <a:extLst>
              <a:ext uri="{FF2B5EF4-FFF2-40B4-BE49-F238E27FC236}">
                <a16:creationId xmlns:a16="http://schemas.microsoft.com/office/drawing/2014/main" id="{7CB81009-8AD0-0F45-D92A-B6B7673E5C01}"/>
              </a:ext>
            </a:extLst>
          </p:cNvPr>
          <p:cNvGraphicFramePr>
            <a:graphicFrameLocks noGrp="1"/>
          </p:cNvGraphicFramePr>
          <p:nvPr>
            <p:ph idx="1"/>
            <p:extLst>
              <p:ext uri="{D42A27DB-BD31-4B8C-83A1-F6EECF244321}">
                <p14:modId xmlns:p14="http://schemas.microsoft.com/office/powerpoint/2010/main" val="442055571"/>
              </p:ext>
            </p:extLst>
          </p:nvPr>
        </p:nvGraphicFramePr>
        <p:xfrm>
          <a:off x="1058919" y="1074146"/>
          <a:ext cx="10074162" cy="5454167"/>
        </p:xfrm>
        <a:graphic>
          <a:graphicData uri="http://schemas.openxmlformats.org/drawingml/2006/table">
            <a:tbl>
              <a:tblPr firstRow="1" bandRow="1">
                <a:tableStyleId>{5C22544A-7EE6-4342-B048-85BDC9FD1C3A}</a:tableStyleId>
              </a:tblPr>
              <a:tblGrid>
                <a:gridCol w="635579">
                  <a:extLst>
                    <a:ext uri="{9D8B030D-6E8A-4147-A177-3AD203B41FA5}">
                      <a16:colId xmlns:a16="http://schemas.microsoft.com/office/drawing/2014/main" val="1798293898"/>
                    </a:ext>
                  </a:extLst>
                </a:gridCol>
                <a:gridCol w="2722841">
                  <a:extLst>
                    <a:ext uri="{9D8B030D-6E8A-4147-A177-3AD203B41FA5}">
                      <a16:colId xmlns:a16="http://schemas.microsoft.com/office/drawing/2014/main" val="4020743721"/>
                    </a:ext>
                  </a:extLst>
                </a:gridCol>
                <a:gridCol w="1832397">
                  <a:extLst>
                    <a:ext uri="{9D8B030D-6E8A-4147-A177-3AD203B41FA5}">
                      <a16:colId xmlns:a16="http://schemas.microsoft.com/office/drawing/2014/main" val="1973134303"/>
                    </a:ext>
                  </a:extLst>
                </a:gridCol>
                <a:gridCol w="1993133">
                  <a:extLst>
                    <a:ext uri="{9D8B030D-6E8A-4147-A177-3AD203B41FA5}">
                      <a16:colId xmlns:a16="http://schemas.microsoft.com/office/drawing/2014/main" val="2625473045"/>
                    </a:ext>
                  </a:extLst>
                </a:gridCol>
                <a:gridCol w="2890212">
                  <a:extLst>
                    <a:ext uri="{9D8B030D-6E8A-4147-A177-3AD203B41FA5}">
                      <a16:colId xmlns:a16="http://schemas.microsoft.com/office/drawing/2014/main" val="2322247153"/>
                    </a:ext>
                  </a:extLst>
                </a:gridCol>
              </a:tblGrid>
              <a:tr h="348767">
                <a:tc>
                  <a:txBody>
                    <a:bodyPr/>
                    <a:lstStyle/>
                    <a:p>
                      <a:pPr algn="ctr"/>
                      <a:r>
                        <a:rPr lang="en-US" sz="1600" dirty="0" err="1">
                          <a:latin typeface="Times New Roman" panose="02020603050405020304" pitchFamily="18" charset="0"/>
                          <a:cs typeface="Times New Roman" panose="02020603050405020304" pitchFamily="18" charset="0"/>
                        </a:rPr>
                        <a:t>S.No</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t>Research paper</a:t>
                      </a:r>
                    </a:p>
                  </a:txBody>
                  <a:tcPr/>
                </a:tc>
                <a:tc>
                  <a:txBody>
                    <a:bodyPr/>
                    <a:lstStyle/>
                    <a:p>
                      <a:pPr algn="ctr"/>
                      <a:r>
                        <a:rPr lang="en-US" sz="1600" dirty="0"/>
                        <a:t>Author(s)</a:t>
                      </a:r>
                    </a:p>
                  </a:txBody>
                  <a:tcPr/>
                </a:tc>
                <a:tc>
                  <a:txBody>
                    <a:bodyPr/>
                    <a:lstStyle/>
                    <a:p>
                      <a:pPr algn="ctr"/>
                      <a:r>
                        <a:rPr lang="en-US" sz="1600" dirty="0"/>
                        <a:t>Link</a:t>
                      </a:r>
                    </a:p>
                  </a:txBody>
                  <a:tcPr/>
                </a:tc>
                <a:tc>
                  <a:txBody>
                    <a:bodyPr/>
                    <a:lstStyle/>
                    <a:p>
                      <a:pPr algn="ctr"/>
                      <a:r>
                        <a:rPr lang="en-US" sz="1600" dirty="0"/>
                        <a:t>Drawback</a:t>
                      </a:r>
                    </a:p>
                  </a:txBody>
                  <a:tcPr/>
                </a:tc>
                <a:extLst>
                  <a:ext uri="{0D108BD9-81ED-4DB2-BD59-A6C34878D82A}">
                    <a16:rowId xmlns:a16="http://schemas.microsoft.com/office/drawing/2014/main" val="1173974208"/>
                  </a:ext>
                </a:extLst>
              </a:tr>
              <a:tr h="644981">
                <a:tc>
                  <a:txBody>
                    <a:bodyPr/>
                    <a:lstStyle/>
                    <a:p>
                      <a:pPr algn="just"/>
                      <a:r>
                        <a:rPr lang="en-US" sz="1300" dirty="0">
                          <a:latin typeface="Times New Roman" panose="02020603050405020304" pitchFamily="18" charset="0"/>
                          <a:cs typeface="Times New Roman" panose="02020603050405020304" pitchFamily="18" charset="0"/>
                        </a:rPr>
                        <a:t>1.</a:t>
                      </a:r>
                    </a:p>
                  </a:txBody>
                  <a:tcPr/>
                </a:tc>
                <a:tc>
                  <a:txBody>
                    <a:bodyPr/>
                    <a:lstStyle/>
                    <a:p>
                      <a:pPr algn="just"/>
                      <a:r>
                        <a:rPr lang="en-US" sz="1300" dirty="0">
                          <a:latin typeface="Times New Roman" panose="02020603050405020304" pitchFamily="18" charset="0"/>
                          <a:cs typeface="Times New Roman" panose="02020603050405020304" pitchFamily="18" charset="0"/>
                        </a:rPr>
                        <a:t>Short-term prediction of demand for ride-hailing services: A deep learning approach (</a:t>
                      </a:r>
                      <a:r>
                        <a:rPr lang="en-US" sz="1300" dirty="0" err="1">
                          <a:latin typeface="Times New Roman" panose="02020603050405020304" pitchFamily="18" charset="0"/>
                          <a:cs typeface="Times New Roman" panose="02020603050405020304" pitchFamily="18" charset="0"/>
                        </a:rPr>
                        <a:t>UberNet</a:t>
                      </a:r>
                      <a:r>
                        <a:rPr lang="en-US" sz="1300" dirty="0">
                          <a:latin typeface="Times New Roman" panose="02020603050405020304" pitchFamily="18" charset="0"/>
                          <a:cs typeface="Times New Roman" panose="02020603050405020304" pitchFamily="18" charset="0"/>
                        </a:rPr>
                        <a:t>)</a:t>
                      </a:r>
                    </a:p>
                  </a:txBody>
                  <a:tcPr/>
                </a:tc>
                <a:tc>
                  <a:txBody>
                    <a:bodyPr/>
                    <a:lstStyle/>
                    <a:p>
                      <a:pPr algn="l"/>
                      <a:r>
                        <a:rPr lang="en-US" sz="1300" dirty="0">
                          <a:latin typeface="Times New Roman" panose="02020603050405020304" pitchFamily="18" charset="0"/>
                          <a:cs typeface="Times New Roman" panose="02020603050405020304" pitchFamily="18" charset="0"/>
                        </a:rPr>
                        <a:t>Long Chen et al.</a:t>
                      </a:r>
                    </a:p>
                  </a:txBody>
                  <a:tcPr/>
                </a:tc>
                <a:tc>
                  <a:txBody>
                    <a:bodyPr/>
                    <a:lstStyle/>
                    <a:p>
                      <a:r>
                        <a:rPr lang="en-US" sz="1300" dirty="0">
                          <a:latin typeface="Times New Roman" panose="02020603050405020304" pitchFamily="18" charset="0"/>
                          <a:cs typeface="Times New Roman" panose="02020603050405020304" pitchFamily="18" charset="0"/>
                          <a:hlinkClick r:id="rId2"/>
                        </a:rPr>
                        <a:t>https://arxiv.org/abs/2212.03956</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Trained on NYC-specific data; may not generalize well to other cities with different traffic patterns</a:t>
                      </a:r>
                    </a:p>
                  </a:txBody>
                  <a:tcPr/>
                </a:tc>
                <a:extLst>
                  <a:ext uri="{0D108BD9-81ED-4DB2-BD59-A6C34878D82A}">
                    <a16:rowId xmlns:a16="http://schemas.microsoft.com/office/drawing/2014/main" val="3264953539"/>
                  </a:ext>
                </a:extLst>
              </a:tr>
              <a:tr h="644981">
                <a:tc>
                  <a:txBody>
                    <a:bodyPr/>
                    <a:lstStyle/>
                    <a:p>
                      <a:pPr algn="just"/>
                      <a:r>
                        <a:rPr lang="en-US" sz="1300" dirty="0">
                          <a:latin typeface="Times New Roman" panose="02020603050405020304" pitchFamily="18" charset="0"/>
                          <a:cs typeface="Times New Roman" panose="02020603050405020304" pitchFamily="18" charset="0"/>
                        </a:rPr>
                        <a:t>2.</a:t>
                      </a:r>
                    </a:p>
                  </a:txBody>
                  <a:tcPr/>
                </a:tc>
                <a:tc>
                  <a:txBody>
                    <a:bodyPr/>
                    <a:lstStyle/>
                    <a:p>
                      <a:pPr algn="just"/>
                      <a:r>
                        <a:rPr lang="en-US" sz="1300" dirty="0">
                          <a:latin typeface="Times New Roman" panose="02020603050405020304" pitchFamily="18" charset="0"/>
                          <a:cs typeface="Times New Roman" panose="02020603050405020304" pitchFamily="18" charset="0"/>
                        </a:rPr>
                        <a:t>Analysis and prediction of New York City taxi and Uber demands</a:t>
                      </a:r>
                    </a:p>
                  </a:txBody>
                  <a:tcPr/>
                </a:tc>
                <a:tc>
                  <a:txBody>
                    <a:bodyPr/>
                    <a:lstStyle/>
                    <a:p>
                      <a:r>
                        <a:rPr lang="en-US" sz="1300" dirty="0">
                          <a:latin typeface="Times New Roman" panose="02020603050405020304" pitchFamily="18" charset="0"/>
                          <a:cs typeface="Times New Roman" panose="02020603050405020304" pitchFamily="18" charset="0"/>
                        </a:rPr>
                        <a:t>(NYC study, published in scielo.org.mx)</a:t>
                      </a:r>
                    </a:p>
                  </a:txBody>
                  <a:tcPr/>
                </a:tc>
                <a:tc>
                  <a:txBody>
                    <a:bodyPr/>
                    <a:lstStyle/>
                    <a:p>
                      <a:r>
                        <a:rPr lang="en-US" sz="1300" dirty="0">
                          <a:latin typeface="Times New Roman" panose="02020603050405020304" pitchFamily="18" charset="0"/>
                          <a:cs typeface="Times New Roman" panose="02020603050405020304" pitchFamily="18" charset="0"/>
                          <a:hlinkClick r:id="rId3"/>
                        </a:rPr>
                        <a:t>scielo.org.mx/</a:t>
                      </a:r>
                      <a:r>
                        <a:rPr lang="en-US" sz="1300" dirty="0" err="1">
                          <a:latin typeface="Times New Roman" panose="02020603050405020304" pitchFamily="18" charset="0"/>
                          <a:cs typeface="Times New Roman" panose="02020603050405020304" pitchFamily="18" charset="0"/>
                          <a:hlinkClick r:id="rId3"/>
                        </a:rPr>
                        <a:t>scielo.php?script</a:t>
                      </a:r>
                      <a:r>
                        <a:rPr lang="en-US" sz="1300" dirty="0">
                          <a:latin typeface="Times New Roman" panose="02020603050405020304" pitchFamily="18" charset="0"/>
                          <a:cs typeface="Times New Roman" panose="02020603050405020304" pitchFamily="18" charset="0"/>
                          <a:hlinkClick r:id="rId3"/>
                        </a:rPr>
                        <a:t>=</a:t>
                      </a:r>
                      <a:r>
                        <a:rPr lang="en-US" sz="1300" dirty="0" err="1">
                          <a:latin typeface="Times New Roman" panose="02020603050405020304" pitchFamily="18" charset="0"/>
                          <a:cs typeface="Times New Roman" panose="02020603050405020304" pitchFamily="18" charset="0"/>
                          <a:hlinkClick r:id="rId3"/>
                        </a:rPr>
                        <a:t>sci_arttext&amp;pid</a:t>
                      </a:r>
                      <a:r>
                        <a:rPr lang="en-US" sz="1300" dirty="0">
                          <a:latin typeface="Times New Roman" panose="02020603050405020304" pitchFamily="18" charset="0"/>
                          <a:cs typeface="Times New Roman" panose="02020603050405020304" pitchFamily="18" charset="0"/>
                          <a:hlinkClick r:id="rId3"/>
                        </a:rPr>
                        <a:t>=S1665-64232023000500886</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Built around NYC's zip-code zones and weather data; not directly applicable to other cities</a:t>
                      </a:r>
                    </a:p>
                  </a:txBody>
                  <a:tcPr/>
                </a:tc>
                <a:extLst>
                  <a:ext uri="{0D108BD9-81ED-4DB2-BD59-A6C34878D82A}">
                    <a16:rowId xmlns:a16="http://schemas.microsoft.com/office/drawing/2014/main" val="3498961955"/>
                  </a:ext>
                </a:extLst>
              </a:tr>
              <a:tr h="831308">
                <a:tc>
                  <a:txBody>
                    <a:bodyPr/>
                    <a:lstStyle/>
                    <a:p>
                      <a:r>
                        <a:rPr lang="en-US" sz="1300" dirty="0">
                          <a:latin typeface="Times New Roman" panose="02020603050405020304" pitchFamily="18" charset="0"/>
                          <a:cs typeface="Times New Roman" panose="02020603050405020304" pitchFamily="18" charset="0"/>
                        </a:rPr>
                        <a:t>3.</a:t>
                      </a:r>
                    </a:p>
                  </a:txBody>
                  <a:tcPr/>
                </a:tc>
                <a:tc>
                  <a:txBody>
                    <a:bodyPr/>
                    <a:lstStyle/>
                    <a:p>
                      <a:r>
                        <a:rPr lang="en-US" sz="1300" dirty="0">
                          <a:latin typeface="Times New Roman" panose="02020603050405020304" pitchFamily="18" charset="0"/>
                          <a:cs typeface="Times New Roman" panose="02020603050405020304" pitchFamily="18" charset="0"/>
                        </a:rPr>
                        <a:t>Ride-hailing fares and demand interactions</a:t>
                      </a:r>
                    </a:p>
                  </a:txBody>
                  <a:tcPr/>
                </a:tc>
                <a:tc>
                  <a:txBody>
                    <a:bodyPr/>
                    <a:lstStyle/>
                    <a:p>
                      <a:r>
                        <a:rPr lang="en-US" sz="1300" dirty="0">
                          <a:latin typeface="Times New Roman" panose="02020603050405020304" pitchFamily="18" charset="0"/>
                          <a:cs typeface="Times New Roman" panose="02020603050405020304" pitchFamily="18" charset="0"/>
                        </a:rPr>
                        <a:t>(ScienceDirect, 2026)</a:t>
                      </a:r>
                    </a:p>
                  </a:txBody>
                  <a:tcPr/>
                </a:tc>
                <a:tc>
                  <a:txBody>
                    <a:bodyPr/>
                    <a:lstStyle/>
                    <a:p>
                      <a:r>
                        <a:rPr lang="en-US" sz="1300" dirty="0">
                          <a:latin typeface="Times New Roman" panose="02020603050405020304" pitchFamily="18" charset="0"/>
                          <a:cs typeface="Times New Roman" panose="02020603050405020304" pitchFamily="18" charset="0"/>
                          <a:hlinkClick r:id="rId4"/>
                        </a:rPr>
                        <a:t>https://sciencedirect.com/science/article/abs/pii/S0739885926000351</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Focuses only on Uber and Lyft in New York City over a short 15-day window, so findings may not hold for other markets or longer time periods.</a:t>
                      </a:r>
                    </a:p>
                  </a:txBody>
                  <a:tcPr/>
                </a:tc>
                <a:extLst>
                  <a:ext uri="{0D108BD9-81ED-4DB2-BD59-A6C34878D82A}">
                    <a16:rowId xmlns:a16="http://schemas.microsoft.com/office/drawing/2014/main" val="3692801802"/>
                  </a:ext>
                </a:extLst>
              </a:tr>
              <a:tr h="831308">
                <a:tc>
                  <a:txBody>
                    <a:bodyPr/>
                    <a:lstStyle/>
                    <a:p>
                      <a:r>
                        <a:rPr lang="en-US" sz="1400" dirty="0">
                          <a:latin typeface="Times New Roman" panose="02020603050405020304" pitchFamily="18" charset="0"/>
                          <a:cs typeface="Times New Roman" panose="02020603050405020304" pitchFamily="18" charset="0"/>
                        </a:rPr>
                        <a:t>4.</a:t>
                      </a:r>
                    </a:p>
                    <a:p>
                      <a:endParaRPr lang="en-US" dirty="0"/>
                    </a:p>
                  </a:txBody>
                  <a:tcPr/>
                </a:tc>
                <a:tc>
                  <a:txBody>
                    <a:bodyPr/>
                    <a:lstStyle/>
                    <a:p>
                      <a:r>
                        <a:rPr lang="en-US" sz="1300" dirty="0">
                          <a:latin typeface="Times New Roman" panose="02020603050405020304" pitchFamily="18" charset="0"/>
                          <a:cs typeface="Times New Roman" panose="02020603050405020304" pitchFamily="18" charset="0"/>
                        </a:rPr>
                        <a:t>Predicting rideshare demand (Public Policy Analytics, Ch. 8)</a:t>
                      </a:r>
                    </a:p>
                  </a:txBody>
                  <a:tcPr/>
                </a:tc>
                <a:tc>
                  <a:txBody>
                    <a:bodyPr/>
                    <a:lstStyle/>
                    <a:p>
                      <a:r>
                        <a:rPr lang="en-US" sz="1300" dirty="0">
                          <a:latin typeface="Times New Roman" panose="02020603050405020304" pitchFamily="18" charset="0"/>
                          <a:cs typeface="Times New Roman" panose="02020603050405020304" pitchFamily="18" charset="0"/>
                        </a:rPr>
                        <a:t>Ken Steif</a:t>
                      </a:r>
                    </a:p>
                  </a:txBody>
                  <a:tcPr/>
                </a:tc>
                <a:tc>
                  <a:txBody>
                    <a:bodyPr/>
                    <a:lstStyle/>
                    <a:p>
                      <a:r>
                        <a:rPr lang="en-US" sz="1300" dirty="0">
                          <a:latin typeface="Times New Roman" panose="02020603050405020304" pitchFamily="18" charset="0"/>
                          <a:cs typeface="Times New Roman" panose="02020603050405020304" pitchFamily="18" charset="0"/>
                          <a:hlinkClick r:id="rId5"/>
                        </a:rPr>
                        <a:t>https://urbanspatial.github.io/PublicPolicyAnalytics</a:t>
                      </a:r>
                      <a:endParaRPr lang="en-US" sz="1300" dirty="0">
                        <a:latin typeface="Times New Roman" panose="02020603050405020304" pitchFamily="18" charset="0"/>
                        <a:cs typeface="Times New Roman" panose="02020603050405020304" pitchFamily="18" charset="0"/>
                      </a:endParaRPr>
                    </a:p>
                  </a:txBody>
                  <a:tcPr/>
                </a:tc>
                <a:tc>
                  <a:txBody>
                    <a:bodyPr/>
                    <a:lstStyle/>
                    <a:p>
                      <a:pPr algn="just"/>
                      <a:r>
                        <a:rPr lang="en-US" sz="1300" dirty="0">
                          <a:latin typeface="Times New Roman" panose="02020603050405020304" pitchFamily="18" charset="0"/>
                          <a:cs typeface="Times New Roman" panose="02020603050405020304" pitchFamily="18" charset="0"/>
                        </a:rPr>
                        <a:t>Notes that </a:t>
                      </a:r>
                      <a:r>
                        <a:rPr lang="en-US" sz="1300" dirty="0" err="1">
                          <a:latin typeface="Times New Roman" panose="02020603050405020304" pitchFamily="18" charset="0"/>
                          <a:cs typeface="Times New Roman" panose="02020603050405020304" pitchFamily="18" charset="0"/>
                        </a:rPr>
                        <a:t>spatio</a:t>
                      </a:r>
                      <a:r>
                        <a:rPr lang="en-US" sz="1300" dirty="0">
                          <a:latin typeface="Times New Roman" panose="02020603050405020304" pitchFamily="18" charset="0"/>
                          <a:cs typeface="Times New Roman" panose="02020603050405020304" pitchFamily="18" charset="0"/>
                        </a:rPr>
                        <a:t>-temporal forecasting remains an open research problem, and reactive routing approaches often arrive after a demand spike has already ended.</a:t>
                      </a:r>
                    </a:p>
                  </a:txBody>
                  <a:tcPr/>
                </a:tc>
                <a:extLst>
                  <a:ext uri="{0D108BD9-81ED-4DB2-BD59-A6C34878D82A}">
                    <a16:rowId xmlns:a16="http://schemas.microsoft.com/office/drawing/2014/main" val="1908929606"/>
                  </a:ext>
                </a:extLst>
              </a:tr>
              <a:tr h="644981">
                <a:tc>
                  <a:txBody>
                    <a:bodyPr/>
                    <a:lstStyle/>
                    <a:p>
                      <a:r>
                        <a:rPr lang="en-US" sz="1400" dirty="0">
                          <a:latin typeface="Times New Roman" panose="02020603050405020304" pitchFamily="18" charset="0"/>
                          <a:cs typeface="Times New Roman" panose="02020603050405020304" pitchFamily="18" charset="0"/>
                        </a:rPr>
                        <a:t>5.</a:t>
                      </a:r>
                    </a:p>
                  </a:txBody>
                  <a:tcPr/>
                </a:tc>
                <a:tc>
                  <a:txBody>
                    <a:bodyPr/>
                    <a:lstStyle/>
                    <a:p>
                      <a:r>
                        <a:rPr lang="en-US" sz="1300" dirty="0">
                          <a:latin typeface="Times New Roman" panose="02020603050405020304" pitchFamily="18" charset="0"/>
                          <a:cs typeface="Times New Roman" panose="02020603050405020304" pitchFamily="18" charset="0"/>
                        </a:rPr>
                        <a:t>Modeling and prediction of ride-sharing utilization dynamics</a:t>
                      </a:r>
                    </a:p>
                  </a:txBody>
                  <a:tcPr/>
                </a:tc>
                <a:tc>
                  <a:txBody>
                    <a:bodyPr/>
                    <a:lstStyle/>
                    <a:p>
                      <a:r>
                        <a:rPr lang="en-US" sz="1300" dirty="0">
                          <a:latin typeface="Times New Roman" panose="02020603050405020304" pitchFamily="18" charset="0"/>
                          <a:cs typeface="Times New Roman" panose="02020603050405020304" pitchFamily="18" charset="0"/>
                        </a:rPr>
                        <a:t>(</a:t>
                      </a:r>
                      <a:r>
                        <a:rPr lang="en-US" sz="1300" dirty="0" err="1">
                          <a:latin typeface="Times New Roman" panose="02020603050405020304" pitchFamily="18" charset="0"/>
                          <a:cs typeface="Times New Roman" panose="02020603050405020304" pitchFamily="18" charset="0"/>
                        </a:rPr>
                        <a:t>Hindawi</a:t>
                      </a:r>
                      <a:r>
                        <a:rPr lang="en-US" sz="1300" dirty="0">
                          <a:latin typeface="Times New Roman" panose="02020603050405020304" pitchFamily="18" charset="0"/>
                          <a:cs typeface="Times New Roman" panose="02020603050405020304" pitchFamily="18" charset="0"/>
                        </a:rPr>
                        <a:t>, Journal of Advanced Transportation)</a:t>
                      </a:r>
                    </a:p>
                  </a:txBody>
                  <a:tcPr/>
                </a:tc>
                <a:tc>
                  <a:txBody>
                    <a:bodyPr/>
                    <a:lstStyle/>
                    <a:p>
                      <a:r>
                        <a:rPr lang="en-US" sz="1300" dirty="0">
                          <a:latin typeface="Times New Roman" panose="02020603050405020304" pitchFamily="18" charset="0"/>
                          <a:cs typeface="Times New Roman" panose="02020603050405020304" pitchFamily="18" charset="0"/>
                          <a:hlinkClick r:id="rId6"/>
                        </a:rPr>
                        <a:t>https://hindawi.com/journals/jat/2019/6125798</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dirty="0">
                          <a:latin typeface="Times New Roman" panose="02020603050405020304" pitchFamily="18" charset="0"/>
                          <a:cs typeface="Times New Roman" panose="02020603050405020304" pitchFamily="18" charset="0"/>
                        </a:rPr>
                        <a:t>The prediction method is validated on a single dataset of NYC taxi trips from a specific month, limiting confidence in broader applicability.</a:t>
                      </a:r>
                    </a:p>
                  </a:txBody>
                  <a:tcPr/>
                </a:tc>
                <a:extLst>
                  <a:ext uri="{0D108BD9-81ED-4DB2-BD59-A6C34878D82A}">
                    <a16:rowId xmlns:a16="http://schemas.microsoft.com/office/drawing/2014/main" val="3009795804"/>
                  </a:ext>
                </a:extLst>
              </a:tr>
              <a:tr h="348767">
                <a:tc>
                  <a:txBody>
                    <a:bodyPr/>
                    <a:lstStyle/>
                    <a:p>
                      <a:r>
                        <a:rPr lang="en-US" sz="1300" dirty="0">
                          <a:latin typeface="Times New Roman" panose="02020603050405020304" pitchFamily="18" charset="0"/>
                          <a:cs typeface="Times New Roman" panose="02020603050405020304" pitchFamily="18" charset="0"/>
                        </a:rPr>
                        <a:t>6.</a:t>
                      </a:r>
                    </a:p>
                  </a:txBody>
                  <a:tcPr/>
                </a:tc>
                <a:tc>
                  <a:txBody>
                    <a:bodyPr/>
                    <a:lstStyle/>
                    <a:p>
                      <a:r>
                        <a:rPr lang="en-US" sz="1300" dirty="0">
                          <a:latin typeface="Times New Roman" panose="02020603050405020304" pitchFamily="18" charset="0"/>
                          <a:cs typeface="Times New Roman" panose="02020603050405020304" pitchFamily="18" charset="0"/>
                        </a:rPr>
                        <a:t>Real-time text analytics pipeline using open-source big data tools</a:t>
                      </a:r>
                    </a:p>
                  </a:txBody>
                  <a:tcPr/>
                </a:tc>
                <a:tc>
                  <a:txBody>
                    <a:bodyPr/>
                    <a:lstStyle/>
                    <a:p>
                      <a:r>
                        <a:rPr lang="en-US" sz="1300" dirty="0">
                          <a:latin typeface="Times New Roman" panose="02020603050405020304" pitchFamily="18" charset="0"/>
                          <a:cs typeface="Times New Roman" panose="02020603050405020304" pitchFamily="18" charset="0"/>
                        </a:rPr>
                        <a:t>Hassan Nazeer, Waheed Iqbal, Fawaz Bokhari, Faisal Bukhari, Shuja Ur Rehman Baig</a:t>
                      </a:r>
                    </a:p>
                  </a:txBody>
                  <a:tcPr/>
                </a:tc>
                <a:tc>
                  <a:txBody>
                    <a:bodyPr/>
                    <a:lstStyle/>
                    <a:p>
                      <a:r>
                        <a:rPr lang="en-US" sz="1300" dirty="0">
                          <a:latin typeface="Times New Roman" panose="02020603050405020304" pitchFamily="18" charset="0"/>
                          <a:cs typeface="Times New Roman" panose="02020603050405020304" pitchFamily="18" charset="0"/>
                          <a:hlinkClick r:id="rId7"/>
                        </a:rPr>
                        <a:t>https://arxiv.org/pdf/1712.04344</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300" dirty="0">
                          <a:latin typeface="Times New Roman" panose="02020603050405020304" pitchFamily="18" charset="0"/>
                          <a:cs typeface="Times New Roman" panose="02020603050405020304" pitchFamily="18" charset="0"/>
                        </a:rPr>
                        <a:t>Evaluated only on Twitter sentiment data at a relatively small scale (under half a million tweets), so scalability to much larger, continuous ride-sharing data streams is not proven.</a:t>
                      </a:r>
                    </a:p>
                  </a:txBody>
                  <a:tcPr/>
                </a:tc>
                <a:extLst>
                  <a:ext uri="{0D108BD9-81ED-4DB2-BD59-A6C34878D82A}">
                    <a16:rowId xmlns:a16="http://schemas.microsoft.com/office/drawing/2014/main" val="3427902257"/>
                  </a:ext>
                </a:extLst>
              </a:tr>
            </a:tbl>
          </a:graphicData>
        </a:graphic>
      </p:graphicFrame>
      <p:pic>
        <p:nvPicPr>
          <p:cNvPr id="5" name="Picture 4">
            <a:extLst>
              <a:ext uri="{FF2B5EF4-FFF2-40B4-BE49-F238E27FC236}">
                <a16:creationId xmlns:a16="http://schemas.microsoft.com/office/drawing/2014/main" id="{64571B24-0D94-C7C3-5B27-C16B576BB69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1634410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0BFBF-0857-D775-32C4-40C1A3F999CA}"/>
              </a:ext>
            </a:extLst>
          </p:cNvPr>
          <p:cNvSpPr>
            <a:spLocks noGrp="1"/>
          </p:cNvSpPr>
          <p:nvPr>
            <p:ph type="title"/>
          </p:nvPr>
        </p:nvSpPr>
        <p:spPr>
          <a:xfrm>
            <a:off x="3112168" y="389188"/>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Software Requirements</a:t>
            </a:r>
            <a:r>
              <a:rPr lang="en-IN" sz="4000" dirty="0">
                <a:latin typeface="Times New Roman" panose="02020603050405020304" pitchFamily="18" charset="0"/>
                <a:cs typeface="Times New Roman" panose="02020603050405020304" pitchFamily="18" charset="0"/>
              </a:rPr>
              <a:t> </a:t>
            </a:r>
          </a:p>
        </p:txBody>
      </p:sp>
      <p:graphicFrame>
        <p:nvGraphicFramePr>
          <p:cNvPr id="6" name="Content Placeholder 5">
            <a:extLst>
              <a:ext uri="{FF2B5EF4-FFF2-40B4-BE49-F238E27FC236}">
                <a16:creationId xmlns:a16="http://schemas.microsoft.com/office/drawing/2014/main" id="{7795971E-1425-3B3C-9081-11EA294B3D89}"/>
              </a:ext>
            </a:extLst>
          </p:cNvPr>
          <p:cNvGraphicFramePr>
            <a:graphicFrameLocks noGrp="1"/>
          </p:cNvGraphicFramePr>
          <p:nvPr>
            <p:ph idx="1"/>
            <p:extLst>
              <p:ext uri="{D42A27DB-BD31-4B8C-83A1-F6EECF244321}">
                <p14:modId xmlns:p14="http://schemas.microsoft.com/office/powerpoint/2010/main" val="2194118974"/>
              </p:ext>
            </p:extLst>
          </p:nvPr>
        </p:nvGraphicFramePr>
        <p:xfrm>
          <a:off x="838200" y="1714751"/>
          <a:ext cx="10515600" cy="3749584"/>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216388485"/>
                    </a:ext>
                  </a:extLst>
                </a:gridCol>
                <a:gridCol w="5257800">
                  <a:extLst>
                    <a:ext uri="{9D8B030D-6E8A-4147-A177-3AD203B41FA5}">
                      <a16:colId xmlns:a16="http://schemas.microsoft.com/office/drawing/2014/main" val="1896188723"/>
                    </a:ext>
                  </a:extLst>
                </a:gridCol>
              </a:tblGrid>
              <a:tr h="468698">
                <a:tc>
                  <a:txBody>
                    <a:bodyPr/>
                    <a:lstStyle/>
                    <a:p>
                      <a:pPr>
                        <a:buNone/>
                      </a:pPr>
                      <a:r>
                        <a:rPr lang="en-IN"/>
                        <a:t>Software</a:t>
                      </a:r>
                    </a:p>
                  </a:txBody>
                  <a:tcPr anchor="ctr"/>
                </a:tc>
                <a:tc>
                  <a:txBody>
                    <a:bodyPr/>
                    <a:lstStyle/>
                    <a:p>
                      <a:pPr>
                        <a:buNone/>
                      </a:pPr>
                      <a:r>
                        <a:rPr lang="en-IN"/>
                        <a:t>Purpose</a:t>
                      </a:r>
                    </a:p>
                  </a:txBody>
                  <a:tcPr anchor="ctr"/>
                </a:tc>
                <a:extLst>
                  <a:ext uri="{0D108BD9-81ED-4DB2-BD59-A6C34878D82A}">
                    <a16:rowId xmlns:a16="http://schemas.microsoft.com/office/drawing/2014/main" val="1604857153"/>
                  </a:ext>
                </a:extLst>
              </a:tr>
              <a:tr h="468698">
                <a:tc>
                  <a:txBody>
                    <a:bodyPr/>
                    <a:lstStyle/>
                    <a:p>
                      <a:pPr>
                        <a:buNone/>
                      </a:pPr>
                      <a:r>
                        <a:rPr lang="en-IN"/>
                        <a:t>Python</a:t>
                      </a:r>
                    </a:p>
                  </a:txBody>
                  <a:tcPr anchor="ctr"/>
                </a:tc>
                <a:tc>
                  <a:txBody>
                    <a:bodyPr/>
                    <a:lstStyle/>
                    <a:p>
                      <a:pPr>
                        <a:buNone/>
                      </a:pPr>
                      <a:r>
                        <a:rPr lang="en-IN"/>
                        <a:t>Data processing and demand prediction</a:t>
                      </a:r>
                    </a:p>
                  </a:txBody>
                  <a:tcPr anchor="ctr"/>
                </a:tc>
                <a:extLst>
                  <a:ext uri="{0D108BD9-81ED-4DB2-BD59-A6C34878D82A}">
                    <a16:rowId xmlns:a16="http://schemas.microsoft.com/office/drawing/2014/main" val="4276594095"/>
                  </a:ext>
                </a:extLst>
              </a:tr>
              <a:tr h="468698">
                <a:tc>
                  <a:txBody>
                    <a:bodyPr/>
                    <a:lstStyle/>
                    <a:p>
                      <a:pPr>
                        <a:buNone/>
                      </a:pPr>
                      <a:r>
                        <a:rPr lang="en-IN"/>
                        <a:t>PostgreSQL</a:t>
                      </a:r>
                    </a:p>
                  </a:txBody>
                  <a:tcPr anchor="ctr"/>
                </a:tc>
                <a:tc>
                  <a:txBody>
                    <a:bodyPr/>
                    <a:lstStyle/>
                    <a:p>
                      <a:pPr>
                        <a:buNone/>
                      </a:pPr>
                      <a:r>
                        <a:rPr lang="en-IN"/>
                        <a:t>Storing trip, driver and payment data</a:t>
                      </a:r>
                    </a:p>
                  </a:txBody>
                  <a:tcPr anchor="ctr"/>
                </a:tc>
                <a:extLst>
                  <a:ext uri="{0D108BD9-81ED-4DB2-BD59-A6C34878D82A}">
                    <a16:rowId xmlns:a16="http://schemas.microsoft.com/office/drawing/2014/main" val="1075707607"/>
                  </a:ext>
                </a:extLst>
              </a:tr>
              <a:tr h="468698">
                <a:tc>
                  <a:txBody>
                    <a:bodyPr/>
                    <a:lstStyle/>
                    <a:p>
                      <a:pPr>
                        <a:buNone/>
                      </a:pPr>
                      <a:r>
                        <a:rPr lang="en-IN"/>
                        <a:t>Apache Kafka</a:t>
                      </a:r>
                    </a:p>
                  </a:txBody>
                  <a:tcPr anchor="ctr"/>
                </a:tc>
                <a:tc>
                  <a:txBody>
                    <a:bodyPr/>
                    <a:lstStyle/>
                    <a:p>
                      <a:pPr>
                        <a:buNone/>
                      </a:pPr>
                      <a:r>
                        <a:rPr lang="en-IN"/>
                        <a:t>Real-time event streaming</a:t>
                      </a:r>
                    </a:p>
                  </a:txBody>
                  <a:tcPr anchor="ctr"/>
                </a:tc>
                <a:extLst>
                  <a:ext uri="{0D108BD9-81ED-4DB2-BD59-A6C34878D82A}">
                    <a16:rowId xmlns:a16="http://schemas.microsoft.com/office/drawing/2014/main" val="1620030921"/>
                  </a:ext>
                </a:extLst>
              </a:tr>
              <a:tr h="468698">
                <a:tc>
                  <a:txBody>
                    <a:bodyPr/>
                    <a:lstStyle/>
                    <a:p>
                      <a:pPr>
                        <a:buNone/>
                      </a:pPr>
                      <a:r>
                        <a:rPr lang="en-IN"/>
                        <a:t>Apache Airflow</a:t>
                      </a:r>
                    </a:p>
                  </a:txBody>
                  <a:tcPr anchor="ctr"/>
                </a:tc>
                <a:tc>
                  <a:txBody>
                    <a:bodyPr/>
                    <a:lstStyle/>
                    <a:p>
                      <a:pPr>
                        <a:buNone/>
                      </a:pPr>
                      <a:r>
                        <a:rPr lang="en-IN"/>
                        <a:t>ETL pipeline orchestration</a:t>
                      </a:r>
                    </a:p>
                  </a:txBody>
                  <a:tcPr anchor="ctr"/>
                </a:tc>
                <a:extLst>
                  <a:ext uri="{0D108BD9-81ED-4DB2-BD59-A6C34878D82A}">
                    <a16:rowId xmlns:a16="http://schemas.microsoft.com/office/drawing/2014/main" val="1074134294"/>
                  </a:ext>
                </a:extLst>
              </a:tr>
              <a:tr h="468698">
                <a:tc>
                  <a:txBody>
                    <a:bodyPr/>
                    <a:lstStyle/>
                    <a:p>
                      <a:pPr>
                        <a:buNone/>
                      </a:pPr>
                      <a:r>
                        <a:rPr lang="en-IN"/>
                        <a:t>Docker</a:t>
                      </a:r>
                    </a:p>
                  </a:txBody>
                  <a:tcPr anchor="ctr"/>
                </a:tc>
                <a:tc>
                  <a:txBody>
                    <a:bodyPr/>
                    <a:lstStyle/>
                    <a:p>
                      <a:pPr>
                        <a:buNone/>
                      </a:pPr>
                      <a:r>
                        <a:rPr lang="en-IN"/>
                        <a:t>Containerized deployment</a:t>
                      </a:r>
                    </a:p>
                  </a:txBody>
                  <a:tcPr anchor="ctr"/>
                </a:tc>
                <a:extLst>
                  <a:ext uri="{0D108BD9-81ED-4DB2-BD59-A6C34878D82A}">
                    <a16:rowId xmlns:a16="http://schemas.microsoft.com/office/drawing/2014/main" val="873843254"/>
                  </a:ext>
                </a:extLst>
              </a:tr>
              <a:tr h="468698">
                <a:tc>
                  <a:txBody>
                    <a:bodyPr/>
                    <a:lstStyle/>
                    <a:p>
                      <a:pPr>
                        <a:buNone/>
                      </a:pPr>
                      <a:r>
                        <a:rPr lang="en-IN"/>
                        <a:t>Power BI</a:t>
                      </a:r>
                    </a:p>
                  </a:txBody>
                  <a:tcPr anchor="ctr"/>
                </a:tc>
                <a:tc>
                  <a:txBody>
                    <a:bodyPr/>
                    <a:lstStyle/>
                    <a:p>
                      <a:pPr>
                        <a:buNone/>
                      </a:pPr>
                      <a:r>
                        <a:rPr lang="en-IN"/>
                        <a:t>Dashboard and data visualization</a:t>
                      </a:r>
                    </a:p>
                  </a:txBody>
                  <a:tcPr anchor="ctr"/>
                </a:tc>
                <a:extLst>
                  <a:ext uri="{0D108BD9-81ED-4DB2-BD59-A6C34878D82A}">
                    <a16:rowId xmlns:a16="http://schemas.microsoft.com/office/drawing/2014/main" val="3946100319"/>
                  </a:ext>
                </a:extLst>
              </a:tr>
              <a:tr h="468698">
                <a:tc>
                  <a:txBody>
                    <a:bodyPr/>
                    <a:lstStyle/>
                    <a:p>
                      <a:pPr>
                        <a:buNone/>
                      </a:pPr>
                      <a:r>
                        <a:rPr lang="en-IN"/>
                        <a:t>Operating System</a:t>
                      </a:r>
                    </a:p>
                  </a:txBody>
                  <a:tcPr anchor="ctr"/>
                </a:tc>
                <a:tc>
                  <a:txBody>
                    <a:bodyPr/>
                    <a:lstStyle/>
                    <a:p>
                      <a:pPr>
                        <a:buNone/>
                      </a:pPr>
                      <a:r>
                        <a:rPr lang="en-IN" dirty="0"/>
                        <a:t>Windows / Linux</a:t>
                      </a:r>
                    </a:p>
                  </a:txBody>
                  <a:tcPr anchor="ctr"/>
                </a:tc>
                <a:extLst>
                  <a:ext uri="{0D108BD9-81ED-4DB2-BD59-A6C34878D82A}">
                    <a16:rowId xmlns:a16="http://schemas.microsoft.com/office/drawing/2014/main" val="1740917246"/>
                  </a:ext>
                </a:extLst>
              </a:tr>
            </a:tbl>
          </a:graphicData>
        </a:graphic>
      </p:graphicFrame>
      <p:pic>
        <p:nvPicPr>
          <p:cNvPr id="5" name="Picture 4">
            <a:extLst>
              <a:ext uri="{FF2B5EF4-FFF2-40B4-BE49-F238E27FC236}">
                <a16:creationId xmlns:a16="http://schemas.microsoft.com/office/drawing/2014/main" id="{068F64B1-0246-F6EE-C69D-76279DA4B8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954" y="88697"/>
            <a:ext cx="1676400" cy="822730"/>
          </a:xfrm>
          <a:prstGeom prst="rect">
            <a:avLst/>
          </a:prstGeom>
          <a:noFill/>
          <a:ln>
            <a:noFill/>
          </a:ln>
        </p:spPr>
      </p:pic>
    </p:spTree>
    <p:extLst>
      <p:ext uri="{BB962C8B-B14F-4D97-AF65-F5344CB8AC3E}">
        <p14:creationId xmlns:p14="http://schemas.microsoft.com/office/powerpoint/2010/main" val="4233351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64D37-D0E0-33BE-4A67-FF4B99FC7E67}"/>
              </a:ext>
            </a:extLst>
          </p:cNvPr>
          <p:cNvSpPr>
            <a:spLocks noGrp="1"/>
          </p:cNvSpPr>
          <p:nvPr>
            <p:ph type="title"/>
          </p:nvPr>
        </p:nvSpPr>
        <p:spPr>
          <a:xfrm>
            <a:off x="3052010" y="365125"/>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Hardware Requirements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12C466-553B-B0B6-DDCF-91D42924BD34}"/>
              </a:ext>
            </a:extLst>
          </p:cNvPr>
          <p:cNvSpPr>
            <a:spLocks noGrp="1"/>
          </p:cNvSpPr>
          <p:nvPr>
            <p:ph idx="1"/>
          </p:nvPr>
        </p:nvSpPr>
        <p:spPr/>
        <p:txBody>
          <a:bodyPr/>
          <a:lstStyle/>
          <a:p>
            <a:pPr lvl="0"/>
            <a:r>
              <a:rPr lang="en-IN" sz="2200" b="1" dirty="0">
                <a:latin typeface="Times New Roman" panose="02020603050405020304" pitchFamily="18" charset="0"/>
                <a:cs typeface="Times New Roman" panose="02020603050405020304" pitchFamily="18" charset="0"/>
              </a:rPr>
              <a:t>Processor:</a:t>
            </a:r>
            <a:r>
              <a:rPr lang="en-IN" sz="2200" dirty="0">
                <a:latin typeface="Times New Roman" panose="02020603050405020304" pitchFamily="18" charset="0"/>
                <a:cs typeface="Times New Roman" panose="02020603050405020304" pitchFamily="18" charset="0"/>
              </a:rPr>
              <a:t> Intel Core i5 or equivalent </a:t>
            </a:r>
          </a:p>
          <a:p>
            <a:pPr lvl="0"/>
            <a:r>
              <a:rPr lang="en-IN" sz="2200" b="1" dirty="0">
                <a:latin typeface="Times New Roman" panose="02020603050405020304" pitchFamily="18" charset="0"/>
                <a:cs typeface="Times New Roman" panose="02020603050405020304" pitchFamily="18" charset="0"/>
              </a:rPr>
              <a:t>RAM:</a:t>
            </a:r>
            <a:r>
              <a:rPr lang="en-IN" sz="2200" dirty="0">
                <a:latin typeface="Times New Roman" panose="02020603050405020304" pitchFamily="18" charset="0"/>
                <a:cs typeface="Times New Roman" panose="02020603050405020304" pitchFamily="18" charset="0"/>
              </a:rPr>
              <a:t> Minimum 8 GB </a:t>
            </a:r>
          </a:p>
          <a:p>
            <a:pPr lvl="0"/>
            <a:r>
              <a:rPr lang="en-IN" sz="2200" b="1" dirty="0">
                <a:latin typeface="Times New Roman" panose="02020603050405020304" pitchFamily="18" charset="0"/>
                <a:cs typeface="Times New Roman" panose="02020603050405020304" pitchFamily="18" charset="0"/>
              </a:rPr>
              <a:t>Storage:</a:t>
            </a:r>
            <a:r>
              <a:rPr lang="en-IN" sz="2200" dirty="0">
                <a:latin typeface="Times New Roman" panose="02020603050405020304" pitchFamily="18" charset="0"/>
                <a:cs typeface="Times New Roman" panose="02020603050405020304" pitchFamily="18" charset="0"/>
              </a:rPr>
              <a:t> Minimum 256 GB SSD </a:t>
            </a:r>
          </a:p>
          <a:p>
            <a:pPr lvl="0"/>
            <a:r>
              <a:rPr lang="en-IN" sz="2200" b="1" dirty="0">
                <a:latin typeface="Times New Roman" panose="02020603050405020304" pitchFamily="18" charset="0"/>
                <a:cs typeface="Times New Roman" panose="02020603050405020304" pitchFamily="18" charset="0"/>
              </a:rPr>
              <a:t>Network:</a:t>
            </a:r>
            <a:r>
              <a:rPr lang="en-IN" sz="2200" dirty="0">
                <a:latin typeface="Times New Roman" panose="02020603050405020304" pitchFamily="18" charset="0"/>
                <a:cs typeface="Times New Roman" panose="02020603050405020304" pitchFamily="18" charset="0"/>
              </a:rPr>
              <a:t> Stable Internet connection </a:t>
            </a:r>
          </a:p>
          <a:p>
            <a:pPr lvl="0"/>
            <a:r>
              <a:rPr lang="en-IN" sz="2200" b="1" dirty="0">
                <a:latin typeface="Times New Roman" panose="02020603050405020304" pitchFamily="18" charset="0"/>
                <a:cs typeface="Times New Roman" panose="02020603050405020304" pitchFamily="18" charset="0"/>
              </a:rPr>
              <a:t>Display:</a:t>
            </a:r>
            <a:r>
              <a:rPr lang="en-IN" sz="2200" dirty="0">
                <a:latin typeface="Times New Roman" panose="02020603050405020304" pitchFamily="18" charset="0"/>
                <a:cs typeface="Times New Roman" panose="02020603050405020304" pitchFamily="18" charset="0"/>
              </a:rPr>
              <a:t> Standard monitor/display </a:t>
            </a:r>
          </a:p>
          <a:p>
            <a:pPr lvl="0"/>
            <a:r>
              <a:rPr lang="en-IN" sz="2200" b="1" dirty="0">
                <a:latin typeface="Times New Roman" panose="02020603050405020304" pitchFamily="18" charset="0"/>
                <a:cs typeface="Times New Roman" panose="02020603050405020304" pitchFamily="18" charset="0"/>
              </a:rPr>
              <a:t>System:</a:t>
            </a:r>
            <a:r>
              <a:rPr lang="en-IN" sz="2200" dirty="0">
                <a:latin typeface="Times New Roman" panose="02020603050405020304" pitchFamily="18" charset="0"/>
                <a:cs typeface="Times New Roman" panose="02020603050405020304" pitchFamily="18" charset="0"/>
              </a:rPr>
              <a:t> 64-bit computer</a:t>
            </a:r>
          </a:p>
          <a:p>
            <a:endParaRPr lang="en-IN" dirty="0"/>
          </a:p>
        </p:txBody>
      </p:sp>
      <p:pic>
        <p:nvPicPr>
          <p:cNvPr id="5" name="Picture 4">
            <a:extLst>
              <a:ext uri="{FF2B5EF4-FFF2-40B4-BE49-F238E27FC236}">
                <a16:creationId xmlns:a16="http://schemas.microsoft.com/office/drawing/2014/main" id="{53C0E1A5-94D8-AC3E-1A99-362374FBC4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954" y="88697"/>
            <a:ext cx="1676400" cy="822730"/>
          </a:xfrm>
          <a:prstGeom prst="rect">
            <a:avLst/>
          </a:prstGeom>
          <a:noFill/>
          <a:ln>
            <a:noFill/>
          </a:ln>
        </p:spPr>
      </p:pic>
    </p:spTree>
    <p:extLst>
      <p:ext uri="{BB962C8B-B14F-4D97-AF65-F5344CB8AC3E}">
        <p14:creationId xmlns:p14="http://schemas.microsoft.com/office/powerpoint/2010/main" val="443411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531D6-8530-C049-9D26-8DA3F3EFFD48}"/>
              </a:ext>
            </a:extLst>
          </p:cNvPr>
          <p:cNvSpPr>
            <a:spLocks noGrp="1"/>
          </p:cNvSpPr>
          <p:nvPr>
            <p:ph type="title"/>
          </p:nvPr>
        </p:nvSpPr>
        <p:spPr>
          <a:xfrm>
            <a:off x="3112168" y="304967"/>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Functional Requirements </a:t>
            </a:r>
          </a:p>
        </p:txBody>
      </p:sp>
      <p:sp>
        <p:nvSpPr>
          <p:cNvPr id="3" name="Content Placeholder 2">
            <a:extLst>
              <a:ext uri="{FF2B5EF4-FFF2-40B4-BE49-F238E27FC236}">
                <a16:creationId xmlns:a16="http://schemas.microsoft.com/office/drawing/2014/main" id="{381E217C-90EA-AA2B-3ADA-D9C872683245}"/>
              </a:ext>
            </a:extLst>
          </p:cNvPr>
          <p:cNvSpPr>
            <a:spLocks noGrp="1"/>
          </p:cNvSpPr>
          <p:nvPr>
            <p:ph idx="1"/>
          </p:nvPr>
        </p:nvSpPr>
        <p:spPr/>
        <p:txBody>
          <a:bodyPr>
            <a:normAutofit fontScale="25000" lnSpcReduction="20000"/>
          </a:bodyPr>
          <a:lstStyle/>
          <a:p>
            <a:r>
              <a:rPr lang="en-IN" sz="6800" dirty="0">
                <a:latin typeface="Times New Roman" panose="02020603050405020304" pitchFamily="18" charset="0"/>
                <a:cs typeface="Times New Roman" panose="02020603050405020304" pitchFamily="18" charset="0"/>
              </a:rPr>
              <a:t>The system should:</a:t>
            </a:r>
          </a:p>
          <a:p>
            <a:pPr lvl="0"/>
            <a:r>
              <a:rPr lang="en-IN" sz="6800" b="1" dirty="0">
                <a:latin typeface="Times New Roman" panose="02020603050405020304" pitchFamily="18" charset="0"/>
                <a:cs typeface="Times New Roman" panose="02020603050405020304" pitchFamily="18" charset="0"/>
              </a:rPr>
              <a:t>Collect Ride Data</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Capture trip, driver, and payment information. </a:t>
            </a:r>
          </a:p>
          <a:p>
            <a:pPr lvl="0"/>
            <a:r>
              <a:rPr lang="en-IN" sz="6800" b="1" dirty="0">
                <a:latin typeface="Times New Roman" panose="02020603050405020304" pitchFamily="18" charset="0"/>
                <a:cs typeface="Times New Roman" panose="02020603050405020304" pitchFamily="18" charset="0"/>
              </a:rPr>
              <a:t>Store Data</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Store structured information in PostgreSQL. </a:t>
            </a:r>
          </a:p>
          <a:p>
            <a:pPr lvl="0"/>
            <a:r>
              <a:rPr lang="en-IN" sz="6800" b="1" dirty="0">
                <a:latin typeface="Times New Roman" panose="02020603050405020304" pitchFamily="18" charset="0"/>
                <a:cs typeface="Times New Roman" panose="02020603050405020304" pitchFamily="18" charset="0"/>
              </a:rPr>
              <a:t>Stream Real-Time Events</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Send trip events through Apache Kafka. </a:t>
            </a:r>
          </a:p>
          <a:p>
            <a:pPr lvl="0"/>
            <a:r>
              <a:rPr lang="en-IN" sz="6800" b="1" dirty="0">
                <a:latin typeface="Times New Roman" panose="02020603050405020304" pitchFamily="18" charset="0"/>
                <a:cs typeface="Times New Roman" panose="02020603050405020304" pitchFamily="18" charset="0"/>
              </a:rPr>
              <a:t>Process Data</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Clean and transform data using ETL pipelines. </a:t>
            </a:r>
          </a:p>
          <a:p>
            <a:pPr lvl="0"/>
            <a:r>
              <a:rPr lang="en-IN" sz="6800" b="1" dirty="0">
                <a:latin typeface="Times New Roman" panose="02020603050405020304" pitchFamily="18" charset="0"/>
                <a:cs typeface="Times New Roman" panose="02020603050405020304" pitchFamily="18" charset="0"/>
              </a:rPr>
              <a:t>Analyze Ride Data</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Identify peak hours, zones, demand patterns and driver performance. </a:t>
            </a:r>
          </a:p>
          <a:p>
            <a:pPr lvl="0"/>
            <a:r>
              <a:rPr lang="en-IN" sz="6800" b="1" dirty="0">
                <a:latin typeface="Times New Roman" panose="02020603050405020304" pitchFamily="18" charset="0"/>
                <a:cs typeface="Times New Roman" panose="02020603050405020304" pitchFamily="18" charset="0"/>
              </a:rPr>
              <a:t>Predict Ride Demand</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Use historical data to forecast future demand. </a:t>
            </a:r>
          </a:p>
          <a:p>
            <a:pPr lvl="0"/>
            <a:r>
              <a:rPr lang="en-IN" sz="6800" b="1" dirty="0">
                <a:latin typeface="Times New Roman" panose="02020603050405020304" pitchFamily="18" charset="0"/>
                <a:cs typeface="Times New Roman" panose="02020603050405020304" pitchFamily="18" charset="0"/>
              </a:rPr>
              <a:t>Generate Dashboards</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Display analytical results using Power BI. </a:t>
            </a:r>
          </a:p>
          <a:p>
            <a:pPr lvl="0"/>
            <a:r>
              <a:rPr lang="en-IN" sz="6800" b="1" dirty="0">
                <a:latin typeface="Times New Roman" panose="02020603050405020304" pitchFamily="18" charset="0"/>
                <a:cs typeface="Times New Roman" panose="02020603050405020304" pitchFamily="18" charset="0"/>
              </a:rPr>
              <a:t>Support Decision-Making</a:t>
            </a:r>
            <a:r>
              <a:rPr lang="en-IN" sz="6800" dirty="0">
                <a:latin typeface="Times New Roman" panose="02020603050405020304" pitchFamily="18" charset="0"/>
                <a:cs typeface="Times New Roman" panose="02020603050405020304" pitchFamily="18" charset="0"/>
              </a:rPr>
              <a:t> </a:t>
            </a:r>
          </a:p>
          <a:p>
            <a:pPr lvl="1"/>
            <a:r>
              <a:rPr lang="en-IN" sz="6800" dirty="0">
                <a:latin typeface="Times New Roman" panose="02020603050405020304" pitchFamily="18" charset="0"/>
                <a:cs typeface="Times New Roman" panose="02020603050405020304" pitchFamily="18" charset="0"/>
              </a:rPr>
              <a:t>Provide insights for fleet management and planning.</a:t>
            </a:r>
          </a:p>
          <a:p>
            <a:endParaRPr lang="en-IN" dirty="0"/>
          </a:p>
        </p:txBody>
      </p:sp>
      <p:pic>
        <p:nvPicPr>
          <p:cNvPr id="5" name="Picture 4">
            <a:extLst>
              <a:ext uri="{FF2B5EF4-FFF2-40B4-BE49-F238E27FC236}">
                <a16:creationId xmlns:a16="http://schemas.microsoft.com/office/drawing/2014/main" id="{5A16D253-07C2-72CA-F8BA-D5DEDD10D0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676400" cy="822730"/>
          </a:xfrm>
          <a:prstGeom prst="rect">
            <a:avLst/>
          </a:prstGeom>
          <a:noFill/>
          <a:ln>
            <a:noFill/>
          </a:ln>
        </p:spPr>
      </p:pic>
    </p:spTree>
    <p:extLst>
      <p:ext uri="{BB962C8B-B14F-4D97-AF65-F5344CB8AC3E}">
        <p14:creationId xmlns:p14="http://schemas.microsoft.com/office/powerpoint/2010/main" val="2679700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575-5294-31ED-8445-4EE3ADBD0EAA}"/>
              </a:ext>
            </a:extLst>
          </p:cNvPr>
          <p:cNvSpPr>
            <a:spLocks noGrp="1"/>
          </p:cNvSpPr>
          <p:nvPr>
            <p:ph type="title"/>
          </p:nvPr>
        </p:nvSpPr>
        <p:spPr>
          <a:xfrm>
            <a:off x="2582779" y="159948"/>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Non-Functional Requirements</a:t>
            </a:r>
          </a:p>
        </p:txBody>
      </p:sp>
      <p:sp>
        <p:nvSpPr>
          <p:cNvPr id="3" name="Content Placeholder 2">
            <a:extLst>
              <a:ext uri="{FF2B5EF4-FFF2-40B4-BE49-F238E27FC236}">
                <a16:creationId xmlns:a16="http://schemas.microsoft.com/office/drawing/2014/main" id="{AF678BA9-86A5-1E7E-B3D1-51DEF97D7268}"/>
              </a:ext>
            </a:extLst>
          </p:cNvPr>
          <p:cNvSpPr>
            <a:spLocks noGrp="1"/>
          </p:cNvSpPr>
          <p:nvPr>
            <p:ph idx="1"/>
          </p:nvPr>
        </p:nvSpPr>
        <p:spPr/>
        <p:txBody>
          <a:bodyPr>
            <a:normAutofit/>
          </a:bodyPr>
          <a:lstStyle/>
          <a:p>
            <a:pPr lvl="0"/>
            <a:r>
              <a:rPr lang="en-IN" sz="2200" b="1" dirty="0">
                <a:latin typeface="Times New Roman" panose="02020603050405020304" pitchFamily="18" charset="0"/>
                <a:cs typeface="Times New Roman" panose="02020603050405020304" pitchFamily="18" charset="0"/>
              </a:rPr>
              <a:t>Scalability:</a:t>
            </a:r>
            <a:r>
              <a:rPr lang="en-IN" sz="2200" dirty="0">
                <a:latin typeface="Times New Roman" panose="02020603050405020304" pitchFamily="18" charset="0"/>
                <a:cs typeface="Times New Roman" panose="02020603050405020304" pitchFamily="18" charset="0"/>
              </a:rPr>
              <a:t> The system should handle increasing ride data volumes. </a:t>
            </a:r>
          </a:p>
          <a:p>
            <a:pPr lvl="0"/>
            <a:r>
              <a:rPr lang="en-IN" sz="2200" b="1" dirty="0">
                <a:latin typeface="Times New Roman" panose="02020603050405020304" pitchFamily="18" charset="0"/>
                <a:cs typeface="Times New Roman" panose="02020603050405020304" pitchFamily="18" charset="0"/>
              </a:rPr>
              <a:t>Performance:</a:t>
            </a:r>
            <a:r>
              <a:rPr lang="en-IN" sz="2200" dirty="0">
                <a:latin typeface="Times New Roman" panose="02020603050405020304" pitchFamily="18" charset="0"/>
                <a:cs typeface="Times New Roman" panose="02020603050405020304" pitchFamily="18" charset="0"/>
              </a:rPr>
              <a:t> Data should be processed efficiently for timely analysis. </a:t>
            </a:r>
          </a:p>
          <a:p>
            <a:pPr lvl="0"/>
            <a:r>
              <a:rPr lang="en-IN" sz="2200" b="1" dirty="0">
                <a:latin typeface="Times New Roman" panose="02020603050405020304" pitchFamily="18" charset="0"/>
                <a:cs typeface="Times New Roman" panose="02020603050405020304" pitchFamily="18" charset="0"/>
              </a:rPr>
              <a:t>Reliability:</a:t>
            </a:r>
            <a:r>
              <a:rPr lang="en-IN" sz="2200" dirty="0">
                <a:latin typeface="Times New Roman" panose="02020603050405020304" pitchFamily="18" charset="0"/>
                <a:cs typeface="Times New Roman" panose="02020603050405020304" pitchFamily="18" charset="0"/>
              </a:rPr>
              <a:t> ETL and streaming pipelines should process data consistently. </a:t>
            </a:r>
          </a:p>
          <a:p>
            <a:pPr lvl="0"/>
            <a:r>
              <a:rPr lang="en-IN" sz="2200" b="1" dirty="0">
                <a:latin typeface="Times New Roman" panose="02020603050405020304" pitchFamily="18" charset="0"/>
                <a:cs typeface="Times New Roman" panose="02020603050405020304" pitchFamily="18" charset="0"/>
              </a:rPr>
              <a:t>Availability:</a:t>
            </a:r>
            <a:r>
              <a:rPr lang="en-IN" sz="2200" dirty="0">
                <a:latin typeface="Times New Roman" panose="02020603050405020304" pitchFamily="18" charset="0"/>
                <a:cs typeface="Times New Roman" panose="02020603050405020304" pitchFamily="18" charset="0"/>
              </a:rPr>
              <a:t> The platform should be available for continuous data processing. </a:t>
            </a:r>
          </a:p>
          <a:p>
            <a:pPr lvl="0"/>
            <a:r>
              <a:rPr lang="en-IN" sz="2200" b="1" dirty="0">
                <a:latin typeface="Times New Roman" panose="02020603050405020304" pitchFamily="18" charset="0"/>
                <a:cs typeface="Times New Roman" panose="02020603050405020304" pitchFamily="18" charset="0"/>
              </a:rPr>
              <a:t>Maintainability:</a:t>
            </a:r>
            <a:r>
              <a:rPr lang="en-IN" sz="2200" dirty="0">
                <a:latin typeface="Times New Roman" panose="02020603050405020304" pitchFamily="18" charset="0"/>
                <a:cs typeface="Times New Roman" panose="02020603050405020304" pitchFamily="18" charset="0"/>
              </a:rPr>
              <a:t> Modular Python components should be easy to maintain. </a:t>
            </a:r>
          </a:p>
          <a:p>
            <a:pPr lvl="0"/>
            <a:r>
              <a:rPr lang="en-IN" sz="2200" b="1" dirty="0">
                <a:latin typeface="Times New Roman" panose="02020603050405020304" pitchFamily="18" charset="0"/>
                <a:cs typeface="Times New Roman" panose="02020603050405020304" pitchFamily="18" charset="0"/>
              </a:rPr>
              <a:t>Security:</a:t>
            </a:r>
            <a:r>
              <a:rPr lang="en-IN" sz="2200" dirty="0">
                <a:latin typeface="Times New Roman" panose="02020603050405020304" pitchFamily="18" charset="0"/>
                <a:cs typeface="Times New Roman" panose="02020603050405020304" pitchFamily="18" charset="0"/>
              </a:rPr>
              <a:t> Ride and user-related data should be stored and processed securely. </a:t>
            </a:r>
          </a:p>
          <a:p>
            <a:pPr lvl="0"/>
            <a:r>
              <a:rPr lang="en-IN" sz="2200" b="1" dirty="0">
                <a:latin typeface="Times New Roman" panose="02020603050405020304" pitchFamily="18" charset="0"/>
                <a:cs typeface="Times New Roman" panose="02020603050405020304" pitchFamily="18" charset="0"/>
              </a:rPr>
              <a:t>Usability:</a:t>
            </a:r>
            <a:r>
              <a:rPr lang="en-IN" sz="2200" dirty="0">
                <a:latin typeface="Times New Roman" panose="02020603050405020304" pitchFamily="18" charset="0"/>
                <a:cs typeface="Times New Roman" panose="02020603050405020304" pitchFamily="18" charset="0"/>
              </a:rPr>
              <a:t> Power BI dashboards should present insights clearly. </a:t>
            </a:r>
          </a:p>
          <a:p>
            <a:pPr lvl="0"/>
            <a:r>
              <a:rPr lang="en-IN" sz="2200" b="1" dirty="0">
                <a:latin typeface="Times New Roman" panose="02020603050405020304" pitchFamily="18" charset="0"/>
                <a:cs typeface="Times New Roman" panose="02020603050405020304" pitchFamily="18" charset="0"/>
              </a:rPr>
              <a:t>Portability:</a:t>
            </a:r>
            <a:r>
              <a:rPr lang="en-IN" sz="2200" dirty="0">
                <a:latin typeface="Times New Roman" panose="02020603050405020304" pitchFamily="18" charset="0"/>
                <a:cs typeface="Times New Roman" panose="02020603050405020304" pitchFamily="18" charset="0"/>
              </a:rPr>
              <a:t> Docker should allow consistent deployment across environments.</a:t>
            </a:r>
          </a:p>
          <a:p>
            <a:endParaRPr lang="en-IN" dirty="0"/>
          </a:p>
        </p:txBody>
      </p:sp>
      <p:pic>
        <p:nvPicPr>
          <p:cNvPr id="5" name="Picture 4">
            <a:extLst>
              <a:ext uri="{FF2B5EF4-FFF2-40B4-BE49-F238E27FC236}">
                <a16:creationId xmlns:a16="http://schemas.microsoft.com/office/drawing/2014/main" id="{2507D61C-0ECB-9DBD-8E8E-BE86300081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676400" cy="822730"/>
          </a:xfrm>
          <a:prstGeom prst="rect">
            <a:avLst/>
          </a:prstGeom>
          <a:noFill/>
          <a:ln>
            <a:noFill/>
          </a:ln>
        </p:spPr>
      </p:pic>
    </p:spTree>
    <p:extLst>
      <p:ext uri="{BB962C8B-B14F-4D97-AF65-F5344CB8AC3E}">
        <p14:creationId xmlns:p14="http://schemas.microsoft.com/office/powerpoint/2010/main" val="939415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452CC-17D2-6754-BB25-9D9002F789B3}"/>
              </a:ext>
            </a:extLst>
          </p:cNvPr>
          <p:cNvSpPr>
            <a:spLocks noGrp="1"/>
          </p:cNvSpPr>
          <p:nvPr>
            <p:ph type="title"/>
          </p:nvPr>
        </p:nvSpPr>
        <p:spPr>
          <a:xfrm>
            <a:off x="838200" y="205176"/>
            <a:ext cx="10515600" cy="1325563"/>
          </a:xfrm>
        </p:spPr>
        <p:txBody>
          <a:bodyPr/>
          <a:lstStyle/>
          <a:p>
            <a:pPr algn="ctr"/>
            <a:r>
              <a:rPr lang="en-IN" sz="4000" b="1" dirty="0">
                <a:latin typeface="Times New Roman" panose="02020603050405020304" pitchFamily="18" charset="0"/>
                <a:cs typeface="Times New Roman" panose="02020603050405020304" pitchFamily="18" charset="0"/>
              </a:rPr>
              <a:t>System</a:t>
            </a:r>
            <a:r>
              <a:rPr lang="en-IN" b="1"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Architecture</a:t>
            </a:r>
            <a:endParaRPr lang="en-US" sz="4000" dirty="0"/>
          </a:p>
        </p:txBody>
      </p:sp>
      <p:pic>
        <p:nvPicPr>
          <p:cNvPr id="7" name="Content Placeholder 6">
            <a:extLst>
              <a:ext uri="{FF2B5EF4-FFF2-40B4-BE49-F238E27FC236}">
                <a16:creationId xmlns:a16="http://schemas.microsoft.com/office/drawing/2014/main" id="{9CE5F306-BD87-4F7A-EB72-FF4B053B8839}"/>
              </a:ext>
            </a:extLst>
          </p:cNvPr>
          <p:cNvPicPr>
            <a:picLocks noGrp="1" noChangeAspect="1"/>
          </p:cNvPicPr>
          <p:nvPr>
            <p:ph idx="1"/>
          </p:nvPr>
        </p:nvPicPr>
        <p:blipFill>
          <a:blip r:embed="rId2"/>
          <a:stretch>
            <a:fillRect/>
          </a:stretch>
        </p:blipFill>
        <p:spPr>
          <a:xfrm>
            <a:off x="1166070" y="1257531"/>
            <a:ext cx="9404058" cy="5233848"/>
          </a:xfrm>
          <a:prstGeom prst="rect">
            <a:avLst/>
          </a:prstGeom>
        </p:spPr>
      </p:pic>
      <p:pic>
        <p:nvPicPr>
          <p:cNvPr id="5" name="Picture 4">
            <a:extLst>
              <a:ext uri="{FF2B5EF4-FFF2-40B4-BE49-F238E27FC236}">
                <a16:creationId xmlns:a16="http://schemas.microsoft.com/office/drawing/2014/main" id="{A29A7441-77B2-B3C7-BE1A-210E6E8CC5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543303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11B0-4FBA-1DEC-AF70-2C0DB3E7AE7E}"/>
              </a:ext>
            </a:extLst>
          </p:cNvPr>
          <p:cNvSpPr>
            <a:spLocks noGrp="1"/>
          </p:cNvSpPr>
          <p:nvPr>
            <p:ph type="title"/>
          </p:nvPr>
        </p:nvSpPr>
        <p:spPr>
          <a:xfrm>
            <a:off x="3701717" y="18255"/>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UML Diagrams</a:t>
            </a:r>
          </a:p>
        </p:txBody>
      </p:sp>
      <p:pic>
        <p:nvPicPr>
          <p:cNvPr id="7" name="Content Placeholder 6">
            <a:extLst>
              <a:ext uri="{FF2B5EF4-FFF2-40B4-BE49-F238E27FC236}">
                <a16:creationId xmlns:a16="http://schemas.microsoft.com/office/drawing/2014/main" id="{E53008A9-D406-F586-4473-4864747BA843}"/>
              </a:ext>
            </a:extLst>
          </p:cNvPr>
          <p:cNvPicPr>
            <a:picLocks noGrp="1" noChangeAspect="1"/>
          </p:cNvPicPr>
          <p:nvPr>
            <p:ph idx="1"/>
          </p:nvPr>
        </p:nvPicPr>
        <p:blipFill>
          <a:blip r:embed="rId2"/>
          <a:stretch>
            <a:fillRect/>
          </a:stretch>
        </p:blipFill>
        <p:spPr>
          <a:xfrm>
            <a:off x="1467853" y="1343818"/>
            <a:ext cx="8722893" cy="5357771"/>
          </a:xfrm>
          <a:prstGeom prst="rect">
            <a:avLst/>
          </a:prstGeom>
        </p:spPr>
      </p:pic>
      <p:pic>
        <p:nvPicPr>
          <p:cNvPr id="5" name="Picture 4">
            <a:extLst>
              <a:ext uri="{FF2B5EF4-FFF2-40B4-BE49-F238E27FC236}">
                <a16:creationId xmlns:a16="http://schemas.microsoft.com/office/drawing/2014/main" id="{035113A4-9785-4171-BAD0-FA1FB898DB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676400" cy="822730"/>
          </a:xfrm>
          <a:prstGeom prst="rect">
            <a:avLst/>
          </a:prstGeom>
          <a:noFill/>
          <a:ln>
            <a:noFill/>
          </a:ln>
        </p:spPr>
      </p:pic>
    </p:spTree>
    <p:extLst>
      <p:ext uri="{BB962C8B-B14F-4D97-AF65-F5344CB8AC3E}">
        <p14:creationId xmlns:p14="http://schemas.microsoft.com/office/powerpoint/2010/main" val="1110564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2F00-98FF-BF51-57BB-155676B7748F}"/>
              </a:ext>
            </a:extLst>
          </p:cNvPr>
          <p:cNvSpPr>
            <a:spLocks noGrp="1"/>
          </p:cNvSpPr>
          <p:nvPr>
            <p:ph type="title"/>
          </p:nvPr>
        </p:nvSpPr>
        <p:spPr>
          <a:xfrm>
            <a:off x="907027" y="264457"/>
            <a:ext cx="10515600" cy="1325563"/>
          </a:xfrm>
        </p:spPr>
        <p:txBody>
          <a:bodyPr>
            <a:normAutofit/>
          </a:bodyPr>
          <a:lstStyle/>
          <a:p>
            <a:pPr algn="ctr"/>
            <a:r>
              <a:rPr lang="en-IN" sz="3800" b="1" dirty="0">
                <a:latin typeface="Times New Roman" panose="02020603050405020304" pitchFamily="18" charset="0"/>
                <a:cs typeface="Times New Roman" panose="02020603050405020304" pitchFamily="18" charset="0"/>
              </a:rPr>
              <a:t>Methodology, System Design and Architecture</a:t>
            </a:r>
            <a:endParaRPr lang="en-US" sz="3800" dirty="0"/>
          </a:p>
        </p:txBody>
      </p:sp>
      <p:sp>
        <p:nvSpPr>
          <p:cNvPr id="3" name="Content Placeholder 2">
            <a:extLst>
              <a:ext uri="{FF2B5EF4-FFF2-40B4-BE49-F238E27FC236}">
                <a16:creationId xmlns:a16="http://schemas.microsoft.com/office/drawing/2014/main" id="{01F794EC-F59F-4130-1AC2-73B1629E5C7A}"/>
              </a:ext>
            </a:extLst>
          </p:cNvPr>
          <p:cNvSpPr>
            <a:spLocks noGrp="1"/>
          </p:cNvSpPr>
          <p:nvPr>
            <p:ph idx="1"/>
          </p:nvPr>
        </p:nvSpPr>
        <p:spPr>
          <a:xfrm>
            <a:off x="838200" y="1417739"/>
            <a:ext cx="10515600" cy="5075136"/>
          </a:xfrm>
        </p:spPr>
        <p:txBody>
          <a:bodyPr>
            <a:normAutofit/>
          </a:bodyPr>
          <a:lstStyle/>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Methodology</a:t>
            </a:r>
            <a:endParaRPr lang="en-US" sz="1600" dirty="0">
              <a:solidFill>
                <a:schemeClr val="accent1"/>
              </a:solidFill>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Collect trip, driver, and payment data from the app</a:t>
            </a:r>
          </a:p>
          <a:p>
            <a:pPr lvl="0"/>
            <a:r>
              <a:rPr lang="en-US" sz="1600" dirty="0">
                <a:latin typeface="Times New Roman" panose="02020603050405020304" pitchFamily="18" charset="0"/>
                <a:cs typeface="Times New Roman" panose="02020603050405020304" pitchFamily="18" charset="0"/>
              </a:rPr>
              <a:t>Stream real-time trip events using Kafka</a:t>
            </a:r>
          </a:p>
          <a:p>
            <a:pPr lvl="0"/>
            <a:r>
              <a:rPr lang="en-US" sz="1600" dirty="0">
                <a:latin typeface="Times New Roman" panose="02020603050405020304" pitchFamily="18" charset="0"/>
                <a:cs typeface="Times New Roman" panose="02020603050405020304" pitchFamily="18" charset="0"/>
              </a:rPr>
              <a:t>Clean and transform data via automated Airflow pipelines</a:t>
            </a:r>
          </a:p>
          <a:p>
            <a:pPr lvl="0"/>
            <a:r>
              <a:rPr lang="en-US" sz="1600" dirty="0">
                <a:latin typeface="Times New Roman" panose="02020603050405020304" pitchFamily="18" charset="0"/>
                <a:cs typeface="Times New Roman" panose="02020603050405020304" pitchFamily="18" charset="0"/>
              </a:rPr>
              <a:t>Analyze traffic, driver performance, and demand trends</a:t>
            </a:r>
          </a:p>
          <a:p>
            <a:pPr lvl="0"/>
            <a:r>
              <a:rPr lang="en-US" sz="1600" dirty="0">
                <a:latin typeface="Times New Roman" panose="02020603050405020304" pitchFamily="18" charset="0"/>
                <a:cs typeface="Times New Roman" panose="02020603050405020304" pitchFamily="18" charset="0"/>
              </a:rPr>
              <a:t>Display insights on Power BI dashboards</a:t>
            </a:r>
          </a:p>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System Design</a:t>
            </a:r>
            <a:endParaRPr lang="en-US" sz="1600" dirty="0">
              <a:solidFill>
                <a:schemeClr val="accent1"/>
              </a:solidFill>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Riders/drivers generate trip, driver, and payment events</a:t>
            </a:r>
          </a:p>
          <a:p>
            <a:pPr lvl="0"/>
            <a:r>
              <a:rPr lang="en-US" sz="1600" dirty="0">
                <a:latin typeface="Times New Roman" panose="02020603050405020304" pitchFamily="18" charset="0"/>
                <a:cs typeface="Times New Roman" panose="02020603050405020304" pitchFamily="18" charset="0"/>
              </a:rPr>
              <a:t>API Gateway routes requests to backend services</a:t>
            </a:r>
          </a:p>
          <a:p>
            <a:pPr lvl="0"/>
            <a:r>
              <a:rPr lang="en-US" sz="1600" dirty="0">
                <a:latin typeface="Times New Roman" panose="02020603050405020304" pitchFamily="18" charset="0"/>
                <a:cs typeface="Times New Roman" panose="02020603050405020304" pitchFamily="18" charset="0"/>
              </a:rPr>
              <a:t>Services store structured data in PostgreSQL</a:t>
            </a:r>
          </a:p>
          <a:p>
            <a:pPr lvl="0"/>
            <a:r>
              <a:rPr lang="en-US" sz="1600" dirty="0">
                <a:latin typeface="Times New Roman" panose="02020603050405020304" pitchFamily="18" charset="0"/>
                <a:cs typeface="Times New Roman" panose="02020603050405020304" pitchFamily="18" charset="0"/>
              </a:rPr>
              <a:t>Pipeline streams and transforms data in real time</a:t>
            </a:r>
          </a:p>
          <a:p>
            <a:pPr lvl="0"/>
            <a:r>
              <a:rPr lang="en-US" sz="1600" dirty="0">
                <a:latin typeface="Times New Roman" panose="02020603050405020304" pitchFamily="18" charset="0"/>
                <a:cs typeface="Times New Roman" panose="02020603050405020304" pitchFamily="18" charset="0"/>
              </a:rPr>
              <a:t>Analytics engine produces traffic and demand insights</a:t>
            </a:r>
          </a:p>
          <a:p>
            <a:endParaRPr lang="en-US"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9B0078E-A86E-CF88-F987-55870CB3ED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pic>
        <p:nvPicPr>
          <p:cNvPr id="8" name="Picture 7">
            <a:extLst>
              <a:ext uri="{FF2B5EF4-FFF2-40B4-BE49-F238E27FC236}">
                <a16:creationId xmlns:a16="http://schemas.microsoft.com/office/drawing/2014/main" id="{2478C98A-D349-BC96-1A9C-7BBED40C7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6182" y="3364481"/>
            <a:ext cx="5830349" cy="2272527"/>
          </a:xfrm>
          <a:prstGeom prst="rect">
            <a:avLst/>
          </a:prstGeom>
        </p:spPr>
      </p:pic>
    </p:spTree>
    <p:extLst>
      <p:ext uri="{BB962C8B-B14F-4D97-AF65-F5344CB8AC3E}">
        <p14:creationId xmlns:p14="http://schemas.microsoft.com/office/powerpoint/2010/main" val="25440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03A2-2BE3-2BD7-592A-61BB8D07C7B5}"/>
              </a:ext>
            </a:extLst>
          </p:cNvPr>
          <p:cNvSpPr>
            <a:spLocks noGrp="1"/>
          </p:cNvSpPr>
          <p:nvPr>
            <p:ph type="title"/>
          </p:nvPr>
        </p:nvSpPr>
        <p:spPr>
          <a:xfrm>
            <a:off x="907027" y="218671"/>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Use of Modern Tools and Technologies</a:t>
            </a:r>
            <a:endParaRPr lang="en-US" sz="4000" dirty="0"/>
          </a:p>
        </p:txBody>
      </p:sp>
      <p:sp>
        <p:nvSpPr>
          <p:cNvPr id="3" name="Content Placeholder 2">
            <a:extLst>
              <a:ext uri="{FF2B5EF4-FFF2-40B4-BE49-F238E27FC236}">
                <a16:creationId xmlns:a16="http://schemas.microsoft.com/office/drawing/2014/main" id="{34DBF4B0-AE63-6B9B-E163-DDB74150DFD9}"/>
              </a:ext>
            </a:extLst>
          </p:cNvPr>
          <p:cNvSpPr>
            <a:spLocks noGrp="1"/>
          </p:cNvSpPr>
          <p:nvPr>
            <p:ph idx="1"/>
          </p:nvPr>
        </p:nvSpPr>
        <p:spPr>
          <a:xfrm>
            <a:off x="838200" y="1417739"/>
            <a:ext cx="10515600" cy="4692112"/>
          </a:xfrm>
        </p:spPr>
        <p:txBody>
          <a:bodyPr>
            <a:noAutofit/>
          </a:bodyPr>
          <a:lstStyle/>
          <a:p>
            <a:pPr marL="0" indent="0">
              <a:buNone/>
            </a:pPr>
            <a:r>
              <a:rPr lang="en-US" sz="1800" b="1" dirty="0">
                <a:solidFill>
                  <a:schemeClr val="accent1"/>
                </a:solidFill>
                <a:latin typeface="Times New Roman" panose="02020603050405020304" pitchFamily="18" charset="0"/>
                <a:cs typeface="Times New Roman" panose="02020603050405020304" pitchFamily="18" charset="0"/>
              </a:rPr>
              <a:t>Technologies Used </a:t>
            </a:r>
          </a:p>
          <a:p>
            <a:r>
              <a:rPr lang="en-US" sz="1600" b="1" dirty="0">
                <a:latin typeface="Times New Roman" panose="02020603050405020304" pitchFamily="18" charset="0"/>
                <a:cs typeface="Times New Roman" panose="02020603050405020304" pitchFamily="18" charset="0"/>
              </a:rPr>
              <a:t>Processing:</a:t>
            </a:r>
            <a:r>
              <a:rPr lang="en-US" sz="1600" dirty="0">
                <a:latin typeface="Times New Roman" panose="02020603050405020304" pitchFamily="18" charset="0"/>
                <a:cs typeface="Times New Roman" panose="02020603050405020304" pitchFamily="18" charset="0"/>
              </a:rPr>
              <a:t> Python – data processing and demand prediction logic</a:t>
            </a:r>
          </a:p>
          <a:p>
            <a:pPr lvl="0"/>
            <a:r>
              <a:rPr lang="en-US" sz="1600" b="1" dirty="0">
                <a:latin typeface="Times New Roman" panose="02020603050405020304" pitchFamily="18" charset="0"/>
                <a:cs typeface="Times New Roman" panose="02020603050405020304" pitchFamily="18" charset="0"/>
              </a:rPr>
              <a:t>Storage:</a:t>
            </a:r>
            <a:r>
              <a:rPr lang="en-US" sz="1600" dirty="0">
                <a:latin typeface="Times New Roman" panose="02020603050405020304" pitchFamily="18" charset="0"/>
                <a:cs typeface="Times New Roman" panose="02020603050405020304" pitchFamily="18" charset="0"/>
              </a:rPr>
              <a:t> PostgreSQL – structured storage for trip, driver, and payment data</a:t>
            </a:r>
          </a:p>
          <a:p>
            <a:pPr lvl="0"/>
            <a:r>
              <a:rPr lang="en-US" sz="1600" b="1" dirty="0">
                <a:latin typeface="Times New Roman" panose="02020603050405020304" pitchFamily="18" charset="0"/>
                <a:cs typeface="Times New Roman" panose="02020603050405020304" pitchFamily="18" charset="0"/>
              </a:rPr>
              <a:t>Streaming:</a:t>
            </a:r>
            <a:r>
              <a:rPr lang="en-US" sz="1600" dirty="0">
                <a:latin typeface="Times New Roman" panose="02020603050405020304" pitchFamily="18" charset="0"/>
                <a:cs typeface="Times New Roman" panose="02020603050405020304" pitchFamily="18" charset="0"/>
              </a:rPr>
              <a:t> Apache Kafka – real-time streaming of trip events</a:t>
            </a:r>
          </a:p>
          <a:p>
            <a:pPr lvl="0"/>
            <a:r>
              <a:rPr lang="en-US" sz="1600" b="1" dirty="0">
                <a:latin typeface="Times New Roman" panose="02020603050405020304" pitchFamily="18" charset="0"/>
                <a:cs typeface="Times New Roman" panose="02020603050405020304" pitchFamily="18" charset="0"/>
              </a:rPr>
              <a:t>Automation:</a:t>
            </a:r>
            <a:r>
              <a:rPr lang="en-US" sz="1600" dirty="0">
                <a:latin typeface="Times New Roman" panose="02020603050405020304" pitchFamily="18" charset="0"/>
                <a:cs typeface="Times New Roman" panose="02020603050405020304" pitchFamily="18" charset="0"/>
              </a:rPr>
              <a:t> Apache Airflow – orchestration of automated ETL pipelines</a:t>
            </a:r>
          </a:p>
          <a:p>
            <a:pPr lvl="0"/>
            <a:r>
              <a:rPr lang="en-US" sz="1600" b="1" dirty="0">
                <a:latin typeface="Times New Roman" panose="02020603050405020304" pitchFamily="18" charset="0"/>
                <a:cs typeface="Times New Roman" panose="02020603050405020304" pitchFamily="18" charset="0"/>
              </a:rPr>
              <a:t>Deployment:</a:t>
            </a:r>
            <a:r>
              <a:rPr lang="en-US" sz="1600" dirty="0">
                <a:latin typeface="Times New Roman" panose="02020603050405020304" pitchFamily="18" charset="0"/>
                <a:cs typeface="Times New Roman" panose="02020603050405020304" pitchFamily="18" charset="0"/>
              </a:rPr>
              <a:t> Docker – containerized deployment of backend services</a:t>
            </a:r>
          </a:p>
          <a:p>
            <a:pPr lvl="0"/>
            <a:r>
              <a:rPr lang="en-US" sz="1600" b="1" dirty="0">
                <a:latin typeface="Times New Roman" panose="02020603050405020304" pitchFamily="18" charset="0"/>
                <a:cs typeface="Times New Roman" panose="02020603050405020304" pitchFamily="18" charset="0"/>
              </a:rPr>
              <a:t>Visualization:</a:t>
            </a:r>
            <a:r>
              <a:rPr lang="en-US" sz="1600" dirty="0">
                <a:latin typeface="Times New Roman" panose="02020603050405020304" pitchFamily="18" charset="0"/>
                <a:cs typeface="Times New Roman" panose="02020603050405020304" pitchFamily="18" charset="0"/>
              </a:rPr>
              <a:t> Power BI – interactive dashboards for insights</a:t>
            </a:r>
          </a:p>
          <a:p>
            <a:r>
              <a:rPr lang="en-US" sz="1600" dirty="0">
                <a:latin typeface="Times New Roman" panose="02020603050405020304" pitchFamily="18" charset="0"/>
                <a:cs typeface="Times New Roman" panose="02020603050405020304" pitchFamily="18" charset="0"/>
              </a:rPr>
              <a:t>These tools are widely used in real-world data engineering roles at companies like Uber, Netflix, and Amazon — reflecting industry-standard practices rather than academic-only methods.</a:t>
            </a:r>
          </a:p>
          <a:p>
            <a:pPr marL="0" indent="0">
              <a:buNone/>
            </a:pPr>
            <a:r>
              <a:rPr lang="en-US" sz="1800" b="1" dirty="0">
                <a:solidFill>
                  <a:schemeClr val="accent1"/>
                </a:solidFill>
                <a:latin typeface="Times New Roman" panose="02020603050405020304" pitchFamily="18" charset="0"/>
                <a:cs typeface="Times New Roman" panose="02020603050405020304" pitchFamily="18" charset="0"/>
              </a:rPr>
              <a:t>Benefits</a:t>
            </a:r>
            <a:endParaRPr lang="en-US" sz="1800" dirty="0">
              <a:solidFill>
                <a:schemeClr val="accent1"/>
              </a:solidFill>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Efficient, real-time data processing at scale.</a:t>
            </a:r>
          </a:p>
          <a:p>
            <a:pPr lvl="0"/>
            <a:r>
              <a:rPr lang="en-US" sz="1600" dirty="0">
                <a:latin typeface="Times New Roman" panose="02020603050405020304" pitchFamily="18" charset="0"/>
                <a:cs typeface="Times New Roman" panose="02020603050405020304" pitchFamily="18" charset="0"/>
              </a:rPr>
              <a:t>Better analysis of traffic and demand patterns.</a:t>
            </a:r>
          </a:p>
          <a:p>
            <a:pPr lvl="0"/>
            <a:r>
              <a:rPr lang="en-US" sz="1600" dirty="0">
                <a:latin typeface="Times New Roman" panose="02020603050405020304" pitchFamily="18" charset="0"/>
                <a:cs typeface="Times New Roman" panose="02020603050405020304" pitchFamily="18" charset="0"/>
              </a:rPr>
              <a:t>Supports accurate driver performance tracking.</a:t>
            </a:r>
          </a:p>
          <a:p>
            <a:pPr lvl="0"/>
            <a:r>
              <a:rPr lang="en-US" sz="1600" dirty="0">
                <a:latin typeface="Times New Roman" panose="02020603050405020304" pitchFamily="18" charset="0"/>
                <a:cs typeface="Times New Roman" panose="02020603050405020304" pitchFamily="18" charset="0"/>
              </a:rPr>
              <a:t>Helps improve fleet management and decision-making.</a:t>
            </a:r>
          </a:p>
          <a:p>
            <a:endParaRPr lang="en-US" sz="1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684A03D-1DE7-1702-5F5F-4B4F800A25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3740715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AB5C3-D65C-72AF-67FD-5CBA6E09E5C5}"/>
              </a:ext>
            </a:extLst>
          </p:cNvPr>
          <p:cNvSpPr>
            <a:spLocks noGrp="1"/>
          </p:cNvSpPr>
          <p:nvPr>
            <p:ph type="title"/>
          </p:nvPr>
        </p:nvSpPr>
        <p:spPr>
          <a:xfrm>
            <a:off x="838200" y="159948"/>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Implementation, Coding Quality </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and Functionality</a:t>
            </a:r>
            <a:endParaRPr lang="en-US" sz="3600" dirty="0"/>
          </a:p>
        </p:txBody>
      </p:sp>
      <p:sp>
        <p:nvSpPr>
          <p:cNvPr id="3" name="Content Placeholder 2">
            <a:extLst>
              <a:ext uri="{FF2B5EF4-FFF2-40B4-BE49-F238E27FC236}">
                <a16:creationId xmlns:a16="http://schemas.microsoft.com/office/drawing/2014/main" id="{0DA2E0D1-9BF3-53C3-134E-D07D02403E6C}"/>
              </a:ext>
            </a:extLst>
          </p:cNvPr>
          <p:cNvSpPr>
            <a:spLocks noGrp="1"/>
          </p:cNvSpPr>
          <p:nvPr>
            <p:ph idx="1"/>
          </p:nvPr>
        </p:nvSpPr>
        <p:spPr>
          <a:xfrm>
            <a:off x="553673" y="1199626"/>
            <a:ext cx="10951129" cy="5150839"/>
          </a:xfrm>
        </p:spPr>
        <p:txBody>
          <a:bodyPr>
            <a:noAutofit/>
          </a:bodyPr>
          <a:lstStyle/>
          <a:p>
            <a:pPr marL="0" indent="0">
              <a:buNone/>
            </a:pPr>
            <a:r>
              <a:rPr lang="en-US" sz="1500" b="1" dirty="0">
                <a:solidFill>
                  <a:schemeClr val="accent1"/>
                </a:solidFill>
                <a:latin typeface="Times New Roman" panose="02020603050405020304" pitchFamily="18" charset="0"/>
                <a:cs typeface="Times New Roman" panose="02020603050405020304" pitchFamily="18" charset="0"/>
              </a:rPr>
              <a:t>Implementation</a:t>
            </a:r>
            <a:endParaRPr lang="en-US" sz="1500" dirty="0">
              <a:solidFill>
                <a:schemeClr val="accent1"/>
              </a:solidFill>
              <a:latin typeface="Times New Roman" panose="02020603050405020304" pitchFamily="18" charset="0"/>
              <a:cs typeface="Times New Roman" panose="02020603050405020304" pitchFamily="18" charset="0"/>
            </a:endParaRPr>
          </a:p>
          <a:p>
            <a:pPr lvl="0"/>
            <a:r>
              <a:rPr lang="en-US" sz="1500" dirty="0">
                <a:latin typeface="Times New Roman" panose="02020603050405020304" pitchFamily="18" charset="0"/>
                <a:cs typeface="Times New Roman" panose="02020603050405020304" pitchFamily="18" charset="0"/>
              </a:rPr>
              <a:t>Build ETL and streaming pipeline</a:t>
            </a:r>
          </a:p>
          <a:p>
            <a:pPr lvl="0"/>
            <a:r>
              <a:rPr lang="en-US" sz="1500" dirty="0">
                <a:latin typeface="Times New Roman" panose="02020603050405020304" pitchFamily="18" charset="0"/>
                <a:cs typeface="Times New Roman" panose="02020603050405020304" pitchFamily="18" charset="0"/>
              </a:rPr>
              <a:t>Process trip, driver, and payment data</a:t>
            </a:r>
          </a:p>
          <a:p>
            <a:pPr lvl="0"/>
            <a:r>
              <a:rPr lang="en-US" sz="1500" dirty="0">
                <a:latin typeface="Times New Roman" panose="02020603050405020304" pitchFamily="18" charset="0"/>
                <a:cs typeface="Times New Roman" panose="02020603050405020304" pitchFamily="18" charset="0"/>
              </a:rPr>
              <a:t>Analyze peak hours and driver performance</a:t>
            </a:r>
          </a:p>
          <a:p>
            <a:pPr lvl="0"/>
            <a:r>
              <a:rPr lang="en-US" sz="1500" dirty="0">
                <a:latin typeface="Times New Roman" panose="02020603050405020304" pitchFamily="18" charset="0"/>
                <a:cs typeface="Times New Roman" panose="02020603050405020304" pitchFamily="18" charset="0"/>
              </a:rPr>
              <a:t>Predict demand using historical data</a:t>
            </a:r>
          </a:p>
          <a:p>
            <a:pPr lvl="0"/>
            <a:r>
              <a:rPr lang="en-US" sz="1500" dirty="0">
                <a:latin typeface="Times New Roman" panose="02020603050405020304" pitchFamily="18" charset="0"/>
                <a:cs typeface="Times New Roman" panose="02020603050405020304" pitchFamily="18" charset="0"/>
              </a:rPr>
              <a:t>Display results on Power BI</a:t>
            </a:r>
          </a:p>
          <a:p>
            <a:pPr marL="0" indent="0">
              <a:buNone/>
            </a:pPr>
            <a:r>
              <a:rPr lang="en-US" sz="1500" b="1" dirty="0">
                <a:solidFill>
                  <a:schemeClr val="accent1"/>
                </a:solidFill>
                <a:latin typeface="Times New Roman" panose="02020603050405020304" pitchFamily="18" charset="0"/>
                <a:cs typeface="Times New Roman" panose="02020603050405020304" pitchFamily="18" charset="0"/>
              </a:rPr>
              <a:t>Coding Quality</a:t>
            </a:r>
            <a:endParaRPr lang="en-US" sz="1500" dirty="0">
              <a:solidFill>
                <a:schemeClr val="accent1"/>
              </a:solidFill>
              <a:latin typeface="Times New Roman" panose="02020603050405020304" pitchFamily="18" charset="0"/>
              <a:cs typeface="Times New Roman" panose="02020603050405020304" pitchFamily="18" charset="0"/>
            </a:endParaRPr>
          </a:p>
          <a:p>
            <a:pPr lvl="0"/>
            <a:r>
              <a:rPr lang="en-US" sz="1500" dirty="0">
                <a:latin typeface="Times New Roman" panose="02020603050405020304" pitchFamily="18" charset="0"/>
                <a:cs typeface="Times New Roman" panose="02020603050405020304" pitchFamily="18" charset="0"/>
              </a:rPr>
              <a:t>Modular Python code (separate extract/transform/load functions)</a:t>
            </a:r>
          </a:p>
          <a:p>
            <a:pPr lvl="0"/>
            <a:r>
              <a:rPr lang="en-US" sz="1500" dirty="0">
                <a:latin typeface="Times New Roman" panose="02020603050405020304" pitchFamily="18" charset="0"/>
                <a:cs typeface="Times New Roman" panose="02020603050405020304" pitchFamily="18" charset="0"/>
              </a:rPr>
              <a:t>Clear variable/function naming</a:t>
            </a:r>
          </a:p>
          <a:p>
            <a:pPr lvl="0"/>
            <a:r>
              <a:rPr lang="en-US" sz="1500" dirty="0">
                <a:latin typeface="Times New Roman" panose="02020603050405020304" pitchFamily="18" charset="0"/>
                <a:cs typeface="Times New Roman" panose="02020603050405020304" pitchFamily="18" charset="0"/>
              </a:rPr>
              <a:t>Data validation before storage</a:t>
            </a:r>
          </a:p>
          <a:p>
            <a:pPr lvl="0"/>
            <a:r>
              <a:rPr lang="en-US" sz="1500" dirty="0">
                <a:latin typeface="Times New Roman" panose="02020603050405020304" pitchFamily="18" charset="0"/>
                <a:cs typeface="Times New Roman" panose="02020603050405020304" pitchFamily="18" charset="0"/>
              </a:rPr>
              <a:t>Independently testable components</a:t>
            </a:r>
          </a:p>
          <a:p>
            <a:pPr marL="0" indent="0">
              <a:buNone/>
            </a:pPr>
            <a:r>
              <a:rPr lang="en-US" sz="1500" b="1" dirty="0">
                <a:solidFill>
                  <a:schemeClr val="accent1"/>
                </a:solidFill>
                <a:latin typeface="Times New Roman" panose="02020603050405020304" pitchFamily="18" charset="0"/>
                <a:cs typeface="Times New Roman" panose="02020603050405020304" pitchFamily="18" charset="0"/>
              </a:rPr>
              <a:t>Functionality</a:t>
            </a:r>
            <a:r>
              <a:rPr lang="en-US" sz="1500" dirty="0">
                <a:solidFill>
                  <a:schemeClr val="accent1"/>
                </a:solidFill>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 (insert a similar small flow image: Trip event → Kafka → Airflow → PostgreSQL → Analysis → Power BI, instead of the text sentence)</a:t>
            </a:r>
          </a:p>
          <a:p>
            <a:pPr lvl="0"/>
            <a:r>
              <a:rPr lang="en-US" sz="1500" dirty="0">
                <a:latin typeface="Times New Roman" panose="02020603050405020304" pitchFamily="18" charset="0"/>
                <a:cs typeface="Times New Roman" panose="02020603050405020304" pitchFamily="18" charset="0"/>
              </a:rPr>
              <a:t>Real-time trip/driver data collection</a:t>
            </a:r>
          </a:p>
          <a:p>
            <a:pPr lvl="0"/>
            <a:r>
              <a:rPr lang="en-US" sz="1500" dirty="0">
                <a:latin typeface="Times New Roman" panose="02020603050405020304" pitchFamily="18" charset="0"/>
                <a:cs typeface="Times New Roman" panose="02020603050405020304" pitchFamily="18" charset="0"/>
              </a:rPr>
              <a:t>Peak zone and hour detection</a:t>
            </a:r>
          </a:p>
          <a:p>
            <a:pPr lvl="0"/>
            <a:r>
              <a:rPr lang="en-US" sz="1500" dirty="0">
                <a:latin typeface="Times New Roman" panose="02020603050405020304" pitchFamily="18" charset="0"/>
                <a:cs typeface="Times New Roman" panose="02020603050405020304" pitchFamily="18" charset="0"/>
              </a:rPr>
              <a:t>Driver performance tracking</a:t>
            </a:r>
          </a:p>
          <a:p>
            <a:pPr lvl="0"/>
            <a:r>
              <a:rPr lang="en-US" sz="1500" dirty="0">
                <a:latin typeface="Times New Roman" panose="02020603050405020304" pitchFamily="18" charset="0"/>
                <a:cs typeface="Times New Roman" panose="02020603050405020304" pitchFamily="18" charset="0"/>
              </a:rPr>
              <a:t>Better fleet planning</a:t>
            </a:r>
          </a:p>
          <a:p>
            <a:pPr algn="just"/>
            <a:endParaRPr lang="en-US" sz="1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51EEDD1-CE99-03F5-5F47-140093F7B6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4132823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18B10-F125-C683-F7AF-5944B95EE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C672F-2FA7-6038-4102-B64116B0C977}"/>
              </a:ext>
            </a:extLst>
          </p:cNvPr>
          <p:cNvSpPr>
            <a:spLocks noGrp="1"/>
          </p:cNvSpPr>
          <p:nvPr>
            <p:ph type="title"/>
          </p:nvPr>
        </p:nvSpPr>
        <p:spPr>
          <a:xfrm>
            <a:off x="4078706" y="-251417"/>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Implementation</a:t>
            </a:r>
          </a:p>
        </p:txBody>
      </p:sp>
      <p:pic>
        <p:nvPicPr>
          <p:cNvPr id="5" name="Picture 4">
            <a:extLst>
              <a:ext uri="{FF2B5EF4-FFF2-40B4-BE49-F238E27FC236}">
                <a16:creationId xmlns:a16="http://schemas.microsoft.com/office/drawing/2014/main" id="{70EA1D13-5006-5388-8E12-9B5ABF9B3F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pic>
        <p:nvPicPr>
          <p:cNvPr id="6" name="Content Placeholder 5">
            <a:extLst>
              <a:ext uri="{FF2B5EF4-FFF2-40B4-BE49-F238E27FC236}">
                <a16:creationId xmlns:a16="http://schemas.microsoft.com/office/drawing/2014/main" id="{EC1FFD6F-3647-61DE-0D80-35FE73DF9B6C}"/>
              </a:ext>
            </a:extLst>
          </p:cNvPr>
          <p:cNvPicPr>
            <a:picLocks noGrp="1" noChangeAspect="1"/>
          </p:cNvPicPr>
          <p:nvPr>
            <p:ph idx="1"/>
          </p:nvPr>
        </p:nvPicPr>
        <p:blipFill>
          <a:blip r:embed="rId3"/>
          <a:stretch>
            <a:fillRect/>
          </a:stretch>
        </p:blipFill>
        <p:spPr>
          <a:xfrm>
            <a:off x="0" y="822730"/>
            <a:ext cx="12192000" cy="6156959"/>
          </a:xfrm>
          <a:prstGeom prst="rect">
            <a:avLst/>
          </a:prstGeom>
        </p:spPr>
      </p:pic>
    </p:spTree>
    <p:extLst>
      <p:ext uri="{BB962C8B-B14F-4D97-AF65-F5344CB8AC3E}">
        <p14:creationId xmlns:p14="http://schemas.microsoft.com/office/powerpoint/2010/main" val="2631365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2D7F5-A0DD-EBB1-3A68-B1E37D4D3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11268-DCCC-8484-8DF5-5DB01AC607A0}"/>
              </a:ext>
            </a:extLst>
          </p:cNvPr>
          <p:cNvSpPr>
            <a:spLocks noGrp="1"/>
          </p:cNvSpPr>
          <p:nvPr>
            <p:ph type="title"/>
          </p:nvPr>
        </p:nvSpPr>
        <p:spPr>
          <a:xfrm>
            <a:off x="4032986" y="-251417"/>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Implementation</a:t>
            </a:r>
          </a:p>
        </p:txBody>
      </p:sp>
      <p:pic>
        <p:nvPicPr>
          <p:cNvPr id="5" name="Picture 4">
            <a:extLst>
              <a:ext uri="{FF2B5EF4-FFF2-40B4-BE49-F238E27FC236}">
                <a16:creationId xmlns:a16="http://schemas.microsoft.com/office/drawing/2014/main" id="{9BE90C3D-B1A4-00FA-7702-6F783BE743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pic>
        <p:nvPicPr>
          <p:cNvPr id="8" name="Content Placeholder 7">
            <a:extLst>
              <a:ext uri="{FF2B5EF4-FFF2-40B4-BE49-F238E27FC236}">
                <a16:creationId xmlns:a16="http://schemas.microsoft.com/office/drawing/2014/main" id="{0DE74A18-954E-F073-0550-CD3395C1DBAA}"/>
              </a:ext>
            </a:extLst>
          </p:cNvPr>
          <p:cNvPicPr>
            <a:picLocks noGrp="1" noChangeAspect="1"/>
          </p:cNvPicPr>
          <p:nvPr>
            <p:ph idx="1"/>
          </p:nvPr>
        </p:nvPicPr>
        <p:blipFill>
          <a:blip r:embed="rId3"/>
          <a:stretch>
            <a:fillRect/>
          </a:stretch>
        </p:blipFill>
        <p:spPr>
          <a:xfrm>
            <a:off x="1" y="822731"/>
            <a:ext cx="12192000" cy="6035270"/>
          </a:xfrm>
          <a:prstGeom prst="rect">
            <a:avLst/>
          </a:prstGeom>
        </p:spPr>
      </p:pic>
    </p:spTree>
    <p:extLst>
      <p:ext uri="{BB962C8B-B14F-4D97-AF65-F5344CB8AC3E}">
        <p14:creationId xmlns:p14="http://schemas.microsoft.com/office/powerpoint/2010/main" val="2794318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CC74B-09A0-3709-C16E-B46A559F2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F5615-3A65-564B-5A6B-969A5E784433}"/>
              </a:ext>
            </a:extLst>
          </p:cNvPr>
          <p:cNvSpPr>
            <a:spLocks noGrp="1"/>
          </p:cNvSpPr>
          <p:nvPr>
            <p:ph type="title"/>
          </p:nvPr>
        </p:nvSpPr>
        <p:spPr>
          <a:xfrm>
            <a:off x="3911066" y="-251417"/>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Implementation</a:t>
            </a:r>
          </a:p>
        </p:txBody>
      </p:sp>
      <p:pic>
        <p:nvPicPr>
          <p:cNvPr id="6" name="Content Placeholder 5">
            <a:extLst>
              <a:ext uri="{FF2B5EF4-FFF2-40B4-BE49-F238E27FC236}">
                <a16:creationId xmlns:a16="http://schemas.microsoft.com/office/drawing/2014/main" id="{804A752C-E026-C736-93EE-1469882664DE}"/>
              </a:ext>
            </a:extLst>
          </p:cNvPr>
          <p:cNvPicPr>
            <a:picLocks noGrp="1" noChangeAspect="1"/>
          </p:cNvPicPr>
          <p:nvPr>
            <p:ph idx="1"/>
          </p:nvPr>
        </p:nvPicPr>
        <p:blipFill>
          <a:blip r:embed="rId2"/>
          <a:stretch>
            <a:fillRect/>
          </a:stretch>
        </p:blipFill>
        <p:spPr>
          <a:xfrm>
            <a:off x="0" y="822730"/>
            <a:ext cx="12192000" cy="6035270"/>
          </a:xfrm>
          <a:prstGeom prst="rect">
            <a:avLst/>
          </a:prstGeom>
        </p:spPr>
      </p:pic>
      <p:pic>
        <p:nvPicPr>
          <p:cNvPr id="5" name="Picture 4">
            <a:extLst>
              <a:ext uri="{FF2B5EF4-FFF2-40B4-BE49-F238E27FC236}">
                <a16:creationId xmlns:a16="http://schemas.microsoft.com/office/drawing/2014/main" id="{E160A99E-69A9-F43E-4A82-DC1FF3F222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246516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7D4F6-91F6-4490-B673-B28B362304C6}"/>
              </a:ext>
            </a:extLst>
          </p:cNvPr>
          <p:cNvSpPr>
            <a:spLocks noGrp="1"/>
          </p:cNvSpPr>
          <p:nvPr>
            <p:ph type="title"/>
          </p:nvPr>
        </p:nvSpPr>
        <p:spPr>
          <a:xfrm>
            <a:off x="2654969" y="411365"/>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Functionality / Flow Diagram</a:t>
            </a:r>
            <a:r>
              <a:rPr lang="en-IN" sz="40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C40CE2F7-5B1A-E1D2-0904-4E19265D8921}"/>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41FED0BD-62AD-D62F-00D8-8E1FFAA06B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4266741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F7DF-ABA5-DB72-AA0E-A9ADA5EC7387}"/>
              </a:ext>
            </a:extLst>
          </p:cNvPr>
          <p:cNvSpPr>
            <a:spLocks noGrp="1"/>
          </p:cNvSpPr>
          <p:nvPr>
            <p:ph type="title"/>
          </p:nvPr>
        </p:nvSpPr>
        <p:spPr>
          <a:xfrm>
            <a:off x="4772526" y="159948"/>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Results</a:t>
            </a:r>
            <a:r>
              <a:rPr lang="en-IN" sz="40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17E0A6D3-C45E-01EF-FB04-3F0C5333210B}"/>
              </a:ext>
            </a:extLst>
          </p:cNvPr>
          <p:cNvSpPr>
            <a:spLocks noGrp="1"/>
          </p:cNvSpPr>
          <p:nvPr>
            <p:ph idx="1"/>
          </p:nvPr>
        </p:nvSpPr>
        <p:spPr>
          <a:xfrm>
            <a:off x="68827" y="1253331"/>
            <a:ext cx="3399503" cy="4351338"/>
          </a:xfrm>
        </p:spPr>
        <p:txBody>
          <a:bodyPr>
            <a:normAutofit fontScale="92500" lnSpcReduction="20000"/>
          </a:bodyPr>
          <a:lstStyle/>
          <a:p>
            <a:pPr lvl="0"/>
            <a:r>
              <a:rPr lang="en-IN" sz="2200" dirty="0">
                <a:latin typeface="Times New Roman" panose="02020603050405020304" pitchFamily="18" charset="0"/>
                <a:cs typeface="Times New Roman" panose="02020603050405020304" pitchFamily="18" charset="0"/>
              </a:rPr>
              <a:t>Successfully processes ride-sharing trip data. </a:t>
            </a:r>
          </a:p>
          <a:p>
            <a:pPr lvl="0"/>
            <a:r>
              <a:rPr lang="en-IN" sz="2200" dirty="0">
                <a:latin typeface="Times New Roman" panose="02020603050405020304" pitchFamily="18" charset="0"/>
                <a:cs typeface="Times New Roman" panose="02020603050405020304" pitchFamily="18" charset="0"/>
              </a:rPr>
              <a:t>Identifies peak traffic hours across different zones. </a:t>
            </a:r>
          </a:p>
          <a:p>
            <a:pPr lvl="0"/>
            <a:r>
              <a:rPr lang="en-IN" sz="2200" dirty="0">
                <a:latin typeface="Times New Roman" panose="02020603050405020304" pitchFamily="18" charset="0"/>
                <a:cs typeface="Times New Roman" panose="02020603050405020304" pitchFamily="18" charset="0"/>
              </a:rPr>
              <a:t>Provides driver performance insights. </a:t>
            </a:r>
          </a:p>
          <a:p>
            <a:pPr lvl="0"/>
            <a:r>
              <a:rPr lang="en-IN" sz="2200" dirty="0" err="1">
                <a:latin typeface="Times New Roman" panose="02020603050405020304" pitchFamily="18" charset="0"/>
                <a:cs typeface="Times New Roman" panose="02020603050405020304" pitchFamily="18" charset="0"/>
              </a:rPr>
              <a:t>Analyzes</a:t>
            </a:r>
            <a:r>
              <a:rPr lang="en-IN" sz="2200" dirty="0">
                <a:latin typeface="Times New Roman" panose="02020603050405020304" pitchFamily="18" charset="0"/>
                <a:cs typeface="Times New Roman" panose="02020603050405020304" pitchFamily="18" charset="0"/>
              </a:rPr>
              <a:t> ride-demand patterns. </a:t>
            </a:r>
          </a:p>
          <a:p>
            <a:pPr lvl="0"/>
            <a:r>
              <a:rPr lang="en-IN" sz="2200" dirty="0">
                <a:latin typeface="Times New Roman" panose="02020603050405020304" pitchFamily="18" charset="0"/>
                <a:cs typeface="Times New Roman" panose="02020603050405020304" pitchFamily="18" charset="0"/>
              </a:rPr>
              <a:t>Generates future demand predictions using historical data. </a:t>
            </a:r>
          </a:p>
          <a:p>
            <a:pPr lvl="0"/>
            <a:r>
              <a:rPr lang="en-IN" sz="2200" dirty="0">
                <a:latin typeface="Times New Roman" panose="02020603050405020304" pitchFamily="18" charset="0"/>
                <a:cs typeface="Times New Roman" panose="02020603050405020304" pitchFamily="18" charset="0"/>
              </a:rPr>
              <a:t>Provides interactive analytical dashboards. </a:t>
            </a:r>
          </a:p>
          <a:p>
            <a:pPr lvl="0"/>
            <a:r>
              <a:rPr lang="en-IN" sz="2200" dirty="0">
                <a:latin typeface="Times New Roman" panose="02020603050405020304" pitchFamily="18" charset="0"/>
                <a:cs typeface="Times New Roman" panose="02020603050405020304" pitchFamily="18" charset="0"/>
              </a:rPr>
              <a:t>Supports better fleet planning and data-driven decision-making.</a:t>
            </a:r>
          </a:p>
          <a:p>
            <a:endParaRPr lang="en-IN" dirty="0"/>
          </a:p>
        </p:txBody>
      </p:sp>
      <p:pic>
        <p:nvPicPr>
          <p:cNvPr id="5" name="Picture 4">
            <a:extLst>
              <a:ext uri="{FF2B5EF4-FFF2-40B4-BE49-F238E27FC236}">
                <a16:creationId xmlns:a16="http://schemas.microsoft.com/office/drawing/2014/main" id="{B524BF15-8016-2890-A24B-E51D6D6F5F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pic>
        <p:nvPicPr>
          <p:cNvPr id="8" name="Picture 7">
            <a:extLst>
              <a:ext uri="{FF2B5EF4-FFF2-40B4-BE49-F238E27FC236}">
                <a16:creationId xmlns:a16="http://schemas.microsoft.com/office/drawing/2014/main" id="{F4D0AFC9-8265-728D-8E38-1897C007DAA5}"/>
              </a:ext>
            </a:extLst>
          </p:cNvPr>
          <p:cNvPicPr>
            <a:picLocks noChangeAspect="1"/>
          </p:cNvPicPr>
          <p:nvPr/>
        </p:nvPicPr>
        <p:blipFill>
          <a:blip r:embed="rId3"/>
          <a:stretch>
            <a:fillRect/>
          </a:stretch>
        </p:blipFill>
        <p:spPr>
          <a:xfrm>
            <a:off x="3352800" y="1127760"/>
            <a:ext cx="8839200" cy="5086350"/>
          </a:xfrm>
          <a:prstGeom prst="rect">
            <a:avLst/>
          </a:prstGeom>
        </p:spPr>
      </p:pic>
    </p:spTree>
    <p:extLst>
      <p:ext uri="{BB962C8B-B14F-4D97-AF65-F5344CB8AC3E}">
        <p14:creationId xmlns:p14="http://schemas.microsoft.com/office/powerpoint/2010/main" val="2149233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22BA4-53D8-6E87-AC25-D33A67946E18}"/>
              </a:ext>
            </a:extLst>
          </p:cNvPr>
          <p:cNvSpPr>
            <a:spLocks noGrp="1"/>
          </p:cNvSpPr>
          <p:nvPr>
            <p:ph type="title"/>
          </p:nvPr>
        </p:nvSpPr>
        <p:spPr>
          <a:xfrm>
            <a:off x="4207042" y="268873"/>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Comparison</a:t>
            </a:r>
          </a:p>
        </p:txBody>
      </p:sp>
      <p:graphicFrame>
        <p:nvGraphicFramePr>
          <p:cNvPr id="6" name="Content Placeholder 5">
            <a:extLst>
              <a:ext uri="{FF2B5EF4-FFF2-40B4-BE49-F238E27FC236}">
                <a16:creationId xmlns:a16="http://schemas.microsoft.com/office/drawing/2014/main" id="{EDA7CD76-D3AE-6A17-37ED-EFF5BF608B2D}"/>
              </a:ext>
            </a:extLst>
          </p:cNvPr>
          <p:cNvGraphicFramePr>
            <a:graphicFrameLocks noGrp="1"/>
          </p:cNvGraphicFramePr>
          <p:nvPr>
            <p:ph idx="1"/>
            <p:extLst>
              <p:ext uri="{D42A27DB-BD31-4B8C-83A1-F6EECF244321}">
                <p14:modId xmlns:p14="http://schemas.microsoft.com/office/powerpoint/2010/main" val="2404154556"/>
              </p:ext>
            </p:extLst>
          </p:nvPr>
        </p:nvGraphicFramePr>
        <p:xfrm>
          <a:off x="645694" y="1720516"/>
          <a:ext cx="10515600" cy="42942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498867458"/>
                    </a:ext>
                  </a:extLst>
                </a:gridCol>
                <a:gridCol w="3505200">
                  <a:extLst>
                    <a:ext uri="{9D8B030D-6E8A-4147-A177-3AD203B41FA5}">
                      <a16:colId xmlns:a16="http://schemas.microsoft.com/office/drawing/2014/main" val="3169514056"/>
                    </a:ext>
                  </a:extLst>
                </a:gridCol>
                <a:gridCol w="3505200">
                  <a:extLst>
                    <a:ext uri="{9D8B030D-6E8A-4147-A177-3AD203B41FA5}">
                      <a16:colId xmlns:a16="http://schemas.microsoft.com/office/drawing/2014/main" val="3713270455"/>
                    </a:ext>
                  </a:extLst>
                </a:gridCol>
              </a:tblGrid>
              <a:tr h="429424">
                <a:tc>
                  <a:txBody>
                    <a:bodyPr/>
                    <a:lstStyle/>
                    <a:p>
                      <a:pPr>
                        <a:buNone/>
                      </a:pPr>
                      <a:r>
                        <a:rPr lang="en-IN"/>
                        <a:t>Feature</a:t>
                      </a:r>
                    </a:p>
                  </a:txBody>
                  <a:tcPr anchor="ctr"/>
                </a:tc>
                <a:tc>
                  <a:txBody>
                    <a:bodyPr/>
                    <a:lstStyle/>
                    <a:p>
                      <a:pPr>
                        <a:buNone/>
                      </a:pPr>
                      <a:r>
                        <a:rPr lang="en-IN"/>
                        <a:t>Existing System</a:t>
                      </a:r>
                    </a:p>
                  </a:txBody>
                  <a:tcPr anchor="ctr"/>
                </a:tc>
                <a:tc>
                  <a:txBody>
                    <a:bodyPr/>
                    <a:lstStyle/>
                    <a:p>
                      <a:pPr>
                        <a:buNone/>
                      </a:pPr>
                      <a:r>
                        <a:rPr lang="en-IN"/>
                        <a:t>Proposed System</a:t>
                      </a:r>
                    </a:p>
                  </a:txBody>
                  <a:tcPr anchor="ctr"/>
                </a:tc>
                <a:extLst>
                  <a:ext uri="{0D108BD9-81ED-4DB2-BD59-A6C34878D82A}">
                    <a16:rowId xmlns:a16="http://schemas.microsoft.com/office/drawing/2014/main" val="2245719796"/>
                  </a:ext>
                </a:extLst>
              </a:tr>
              <a:tr h="429424">
                <a:tc>
                  <a:txBody>
                    <a:bodyPr/>
                    <a:lstStyle/>
                    <a:p>
                      <a:pPr>
                        <a:buNone/>
                      </a:pPr>
                      <a:r>
                        <a:rPr lang="en-IN"/>
                        <a:t>Data Processing</a:t>
                      </a:r>
                    </a:p>
                  </a:txBody>
                  <a:tcPr anchor="ctr"/>
                </a:tc>
                <a:tc>
                  <a:txBody>
                    <a:bodyPr/>
                    <a:lstStyle/>
                    <a:p>
                      <a:pPr>
                        <a:buNone/>
                      </a:pPr>
                      <a:r>
                        <a:rPr lang="en-IN"/>
                        <a:t>Mostly historical/batch analysis</a:t>
                      </a:r>
                    </a:p>
                  </a:txBody>
                  <a:tcPr anchor="ctr"/>
                </a:tc>
                <a:tc>
                  <a:txBody>
                    <a:bodyPr/>
                    <a:lstStyle/>
                    <a:p>
                      <a:pPr>
                        <a:buNone/>
                      </a:pPr>
                      <a:r>
                        <a:rPr lang="en-IN"/>
                        <a:t>Automated processing pipeline</a:t>
                      </a:r>
                    </a:p>
                  </a:txBody>
                  <a:tcPr anchor="ctr"/>
                </a:tc>
                <a:extLst>
                  <a:ext uri="{0D108BD9-81ED-4DB2-BD59-A6C34878D82A}">
                    <a16:rowId xmlns:a16="http://schemas.microsoft.com/office/drawing/2014/main" val="3651570126"/>
                  </a:ext>
                </a:extLst>
              </a:tr>
              <a:tr h="429424">
                <a:tc>
                  <a:txBody>
                    <a:bodyPr/>
                    <a:lstStyle/>
                    <a:p>
                      <a:pPr>
                        <a:buNone/>
                      </a:pPr>
                      <a:r>
                        <a:rPr lang="en-IN"/>
                        <a:t>Real-Time Streaming</a:t>
                      </a:r>
                    </a:p>
                  </a:txBody>
                  <a:tcPr anchor="ctr"/>
                </a:tc>
                <a:tc>
                  <a:txBody>
                    <a:bodyPr/>
                    <a:lstStyle/>
                    <a:p>
                      <a:pPr>
                        <a:buNone/>
                      </a:pPr>
                      <a:r>
                        <a:rPr lang="en-IN"/>
                        <a:t>Limited integration</a:t>
                      </a:r>
                    </a:p>
                  </a:txBody>
                  <a:tcPr anchor="ctr"/>
                </a:tc>
                <a:tc>
                  <a:txBody>
                    <a:bodyPr/>
                    <a:lstStyle/>
                    <a:p>
                      <a:pPr>
                        <a:buNone/>
                      </a:pPr>
                      <a:r>
                        <a:rPr lang="en-IN"/>
                        <a:t>Apache Kafka</a:t>
                      </a:r>
                    </a:p>
                  </a:txBody>
                  <a:tcPr anchor="ctr"/>
                </a:tc>
                <a:extLst>
                  <a:ext uri="{0D108BD9-81ED-4DB2-BD59-A6C34878D82A}">
                    <a16:rowId xmlns:a16="http://schemas.microsoft.com/office/drawing/2014/main" val="658950269"/>
                  </a:ext>
                </a:extLst>
              </a:tr>
              <a:tr h="429424">
                <a:tc>
                  <a:txBody>
                    <a:bodyPr/>
                    <a:lstStyle/>
                    <a:p>
                      <a:pPr>
                        <a:buNone/>
                      </a:pPr>
                      <a:r>
                        <a:rPr lang="en-IN" dirty="0"/>
                        <a:t>ETL Automation</a:t>
                      </a:r>
                    </a:p>
                  </a:txBody>
                  <a:tcPr anchor="ctr"/>
                </a:tc>
                <a:tc>
                  <a:txBody>
                    <a:bodyPr/>
                    <a:lstStyle/>
                    <a:p>
                      <a:pPr>
                        <a:buNone/>
                      </a:pPr>
                      <a:r>
                        <a:rPr lang="en-IN"/>
                        <a:t>Limited/manual</a:t>
                      </a:r>
                    </a:p>
                  </a:txBody>
                  <a:tcPr anchor="ctr"/>
                </a:tc>
                <a:tc>
                  <a:txBody>
                    <a:bodyPr/>
                    <a:lstStyle/>
                    <a:p>
                      <a:pPr>
                        <a:buNone/>
                      </a:pPr>
                      <a:r>
                        <a:rPr lang="en-IN"/>
                        <a:t>Apache Airflow</a:t>
                      </a:r>
                    </a:p>
                  </a:txBody>
                  <a:tcPr anchor="ctr"/>
                </a:tc>
                <a:extLst>
                  <a:ext uri="{0D108BD9-81ED-4DB2-BD59-A6C34878D82A}">
                    <a16:rowId xmlns:a16="http://schemas.microsoft.com/office/drawing/2014/main" val="2254087919"/>
                  </a:ext>
                </a:extLst>
              </a:tr>
              <a:tr h="429424">
                <a:tc>
                  <a:txBody>
                    <a:bodyPr/>
                    <a:lstStyle/>
                    <a:p>
                      <a:pPr>
                        <a:buNone/>
                      </a:pPr>
                      <a:r>
                        <a:rPr lang="en-IN"/>
                        <a:t>Data Storage</a:t>
                      </a:r>
                    </a:p>
                  </a:txBody>
                  <a:tcPr anchor="ctr"/>
                </a:tc>
                <a:tc>
                  <a:txBody>
                    <a:bodyPr/>
                    <a:lstStyle/>
                    <a:p>
                      <a:pPr>
                        <a:buNone/>
                      </a:pPr>
                      <a:r>
                        <a:rPr lang="en-IN"/>
                        <a:t>Multiple/separate systems</a:t>
                      </a:r>
                    </a:p>
                  </a:txBody>
                  <a:tcPr anchor="ctr"/>
                </a:tc>
                <a:tc>
                  <a:txBody>
                    <a:bodyPr/>
                    <a:lstStyle/>
                    <a:p>
                      <a:pPr>
                        <a:buNone/>
                      </a:pPr>
                      <a:r>
                        <a:rPr lang="en-IN"/>
                        <a:t>PostgreSQL</a:t>
                      </a:r>
                    </a:p>
                  </a:txBody>
                  <a:tcPr anchor="ctr"/>
                </a:tc>
                <a:extLst>
                  <a:ext uri="{0D108BD9-81ED-4DB2-BD59-A6C34878D82A}">
                    <a16:rowId xmlns:a16="http://schemas.microsoft.com/office/drawing/2014/main" val="2871240134"/>
                  </a:ext>
                </a:extLst>
              </a:tr>
              <a:tr h="429424">
                <a:tc>
                  <a:txBody>
                    <a:bodyPr/>
                    <a:lstStyle/>
                    <a:p>
                      <a:pPr>
                        <a:buNone/>
                      </a:pPr>
                      <a:r>
                        <a:rPr lang="en-IN"/>
                        <a:t>Demand Analysis</a:t>
                      </a:r>
                    </a:p>
                  </a:txBody>
                  <a:tcPr anchor="ctr"/>
                </a:tc>
                <a:tc>
                  <a:txBody>
                    <a:bodyPr/>
                    <a:lstStyle/>
                    <a:p>
                      <a:pPr>
                        <a:buNone/>
                      </a:pPr>
                      <a:r>
                        <a:rPr lang="en-IN"/>
                        <a:t>Historical analysis</a:t>
                      </a:r>
                    </a:p>
                  </a:txBody>
                  <a:tcPr anchor="ctr"/>
                </a:tc>
                <a:tc>
                  <a:txBody>
                    <a:bodyPr/>
                    <a:lstStyle/>
                    <a:p>
                      <a:pPr>
                        <a:buNone/>
                      </a:pPr>
                      <a:r>
                        <a:rPr lang="en-IN"/>
                        <a:t>Historical + prediction</a:t>
                      </a:r>
                    </a:p>
                  </a:txBody>
                  <a:tcPr anchor="ctr"/>
                </a:tc>
                <a:extLst>
                  <a:ext uri="{0D108BD9-81ED-4DB2-BD59-A6C34878D82A}">
                    <a16:rowId xmlns:a16="http://schemas.microsoft.com/office/drawing/2014/main" val="515395535"/>
                  </a:ext>
                </a:extLst>
              </a:tr>
              <a:tr h="429424">
                <a:tc>
                  <a:txBody>
                    <a:bodyPr/>
                    <a:lstStyle/>
                    <a:p>
                      <a:pPr>
                        <a:buNone/>
                      </a:pPr>
                      <a:r>
                        <a:rPr lang="en-IN"/>
                        <a:t>Driver Analysis</a:t>
                      </a:r>
                    </a:p>
                  </a:txBody>
                  <a:tcPr anchor="ctr"/>
                </a:tc>
                <a:tc>
                  <a:txBody>
                    <a:bodyPr/>
                    <a:lstStyle/>
                    <a:p>
                      <a:pPr>
                        <a:buNone/>
                      </a:pPr>
                      <a:r>
                        <a:rPr lang="en-IN"/>
                        <a:t>Basic monitoring</a:t>
                      </a:r>
                    </a:p>
                  </a:txBody>
                  <a:tcPr anchor="ctr"/>
                </a:tc>
                <a:tc>
                  <a:txBody>
                    <a:bodyPr/>
                    <a:lstStyle/>
                    <a:p>
                      <a:pPr>
                        <a:buNone/>
                      </a:pPr>
                      <a:r>
                        <a:rPr lang="en-IN"/>
                        <a:t>Performance analytics</a:t>
                      </a:r>
                    </a:p>
                  </a:txBody>
                  <a:tcPr anchor="ctr"/>
                </a:tc>
                <a:extLst>
                  <a:ext uri="{0D108BD9-81ED-4DB2-BD59-A6C34878D82A}">
                    <a16:rowId xmlns:a16="http://schemas.microsoft.com/office/drawing/2014/main" val="2059858178"/>
                  </a:ext>
                </a:extLst>
              </a:tr>
              <a:tr h="429424">
                <a:tc>
                  <a:txBody>
                    <a:bodyPr/>
                    <a:lstStyle/>
                    <a:p>
                      <a:pPr>
                        <a:buNone/>
                      </a:pPr>
                      <a:r>
                        <a:rPr lang="en-IN"/>
                        <a:t>Visualization</a:t>
                      </a:r>
                    </a:p>
                  </a:txBody>
                  <a:tcPr anchor="ctr"/>
                </a:tc>
                <a:tc>
                  <a:txBody>
                    <a:bodyPr/>
                    <a:lstStyle/>
                    <a:p>
                      <a:pPr>
                        <a:buNone/>
                      </a:pPr>
                      <a:r>
                        <a:rPr lang="en-IN"/>
                        <a:t>Limited/varied</a:t>
                      </a:r>
                    </a:p>
                  </a:txBody>
                  <a:tcPr anchor="ctr"/>
                </a:tc>
                <a:tc>
                  <a:txBody>
                    <a:bodyPr/>
                    <a:lstStyle/>
                    <a:p>
                      <a:pPr>
                        <a:buNone/>
                      </a:pPr>
                      <a:r>
                        <a:rPr lang="en-IN"/>
                        <a:t>Power BI dashboard</a:t>
                      </a:r>
                    </a:p>
                  </a:txBody>
                  <a:tcPr anchor="ctr"/>
                </a:tc>
                <a:extLst>
                  <a:ext uri="{0D108BD9-81ED-4DB2-BD59-A6C34878D82A}">
                    <a16:rowId xmlns:a16="http://schemas.microsoft.com/office/drawing/2014/main" val="2496213001"/>
                  </a:ext>
                </a:extLst>
              </a:tr>
              <a:tr h="429424">
                <a:tc>
                  <a:txBody>
                    <a:bodyPr/>
                    <a:lstStyle/>
                    <a:p>
                      <a:pPr>
                        <a:buNone/>
                      </a:pPr>
                      <a:r>
                        <a:rPr lang="en-IN"/>
                        <a:t>Deployment</a:t>
                      </a:r>
                    </a:p>
                  </a:txBody>
                  <a:tcPr anchor="ctr"/>
                </a:tc>
                <a:tc>
                  <a:txBody>
                    <a:bodyPr/>
                    <a:lstStyle/>
                    <a:p>
                      <a:pPr>
                        <a:buNone/>
                      </a:pPr>
                      <a:r>
                        <a:rPr lang="en-IN"/>
                        <a:t>Traditional deployment</a:t>
                      </a:r>
                    </a:p>
                  </a:txBody>
                  <a:tcPr anchor="ctr"/>
                </a:tc>
                <a:tc>
                  <a:txBody>
                    <a:bodyPr/>
                    <a:lstStyle/>
                    <a:p>
                      <a:pPr>
                        <a:buNone/>
                      </a:pPr>
                      <a:r>
                        <a:rPr lang="en-IN"/>
                        <a:t>Docker-based deployment</a:t>
                      </a:r>
                    </a:p>
                  </a:txBody>
                  <a:tcPr anchor="ctr"/>
                </a:tc>
                <a:extLst>
                  <a:ext uri="{0D108BD9-81ED-4DB2-BD59-A6C34878D82A}">
                    <a16:rowId xmlns:a16="http://schemas.microsoft.com/office/drawing/2014/main" val="4285488646"/>
                  </a:ext>
                </a:extLst>
              </a:tr>
              <a:tr h="429424">
                <a:tc>
                  <a:txBody>
                    <a:bodyPr/>
                    <a:lstStyle/>
                    <a:p>
                      <a:pPr>
                        <a:buNone/>
                      </a:pPr>
                      <a:r>
                        <a:rPr lang="en-IN"/>
                        <a:t>Decision Support</a:t>
                      </a:r>
                    </a:p>
                  </a:txBody>
                  <a:tcPr anchor="ctr"/>
                </a:tc>
                <a:tc>
                  <a:txBody>
                    <a:bodyPr/>
                    <a:lstStyle/>
                    <a:p>
                      <a:pPr>
                        <a:buNone/>
                      </a:pPr>
                      <a:r>
                        <a:rPr lang="en-IN"/>
                        <a:t>Delayed insights</a:t>
                      </a:r>
                    </a:p>
                  </a:txBody>
                  <a:tcPr anchor="ctr"/>
                </a:tc>
                <a:tc>
                  <a:txBody>
                    <a:bodyPr/>
                    <a:lstStyle/>
                    <a:p>
                      <a:pPr>
                        <a:buNone/>
                      </a:pPr>
                      <a:r>
                        <a:rPr lang="en-IN" dirty="0"/>
                        <a:t>Data-driven insights</a:t>
                      </a:r>
                    </a:p>
                  </a:txBody>
                  <a:tcPr anchor="ctr"/>
                </a:tc>
                <a:extLst>
                  <a:ext uri="{0D108BD9-81ED-4DB2-BD59-A6C34878D82A}">
                    <a16:rowId xmlns:a16="http://schemas.microsoft.com/office/drawing/2014/main" val="36229500"/>
                  </a:ext>
                </a:extLst>
              </a:tr>
            </a:tbl>
          </a:graphicData>
        </a:graphic>
      </p:graphicFrame>
      <p:pic>
        <p:nvPicPr>
          <p:cNvPr id="5" name="Picture 4">
            <a:extLst>
              <a:ext uri="{FF2B5EF4-FFF2-40B4-BE49-F238E27FC236}">
                <a16:creationId xmlns:a16="http://schemas.microsoft.com/office/drawing/2014/main" id="{4141ADF8-2730-E422-2965-41E3BBC0B2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3490088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637A9-5442-CACD-39C2-5A27FC121004}"/>
              </a:ext>
            </a:extLst>
          </p:cNvPr>
          <p:cNvSpPr>
            <a:spLocks noGrp="1"/>
          </p:cNvSpPr>
          <p:nvPr>
            <p:ph type="title"/>
          </p:nvPr>
        </p:nvSpPr>
        <p:spPr>
          <a:xfrm>
            <a:off x="4170947" y="256841"/>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Conclusion</a:t>
            </a:r>
            <a:r>
              <a:rPr lang="en-IN" sz="40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A22B02C2-65F4-540C-4D84-F4AC2088E175}"/>
              </a:ext>
            </a:extLst>
          </p:cNvPr>
          <p:cNvSpPr>
            <a:spLocks noGrp="1"/>
          </p:cNvSpPr>
          <p:nvPr>
            <p:ph idx="1"/>
          </p:nvPr>
        </p:nvSpPr>
        <p:spPr/>
        <p:txBody>
          <a:bodyPr>
            <a:normAutofit/>
          </a:bodyPr>
          <a:lstStyle/>
          <a:p>
            <a:pPr lvl="0"/>
            <a:r>
              <a:rPr lang="en-IN" sz="2200" dirty="0">
                <a:latin typeface="Times New Roman" panose="02020603050405020304" pitchFamily="18" charset="0"/>
                <a:cs typeface="Times New Roman" panose="02020603050405020304" pitchFamily="18" charset="0"/>
              </a:rPr>
              <a:t>The </a:t>
            </a:r>
            <a:r>
              <a:rPr lang="en-IN" sz="2200" b="1" dirty="0">
                <a:latin typeface="Times New Roman" panose="02020603050405020304" pitchFamily="18" charset="0"/>
                <a:cs typeface="Times New Roman" panose="02020603050405020304" pitchFamily="18" charset="0"/>
              </a:rPr>
              <a:t>Ride-Sharing Analytics Platform</a:t>
            </a:r>
            <a:r>
              <a:rPr lang="en-IN" sz="2200" dirty="0">
                <a:latin typeface="Times New Roman" panose="02020603050405020304" pitchFamily="18" charset="0"/>
                <a:cs typeface="Times New Roman" panose="02020603050405020304" pitchFamily="18" charset="0"/>
              </a:rPr>
              <a:t> provides a structured approach to processing and analyzing ride-sharing data. </a:t>
            </a:r>
          </a:p>
          <a:p>
            <a:pPr lvl="0"/>
            <a:r>
              <a:rPr lang="en-IN" sz="2200" dirty="0">
                <a:latin typeface="Times New Roman" panose="02020603050405020304" pitchFamily="18" charset="0"/>
                <a:cs typeface="Times New Roman" panose="02020603050405020304" pitchFamily="18" charset="0"/>
              </a:rPr>
              <a:t>Kafka enables real-time trip-event streaming. </a:t>
            </a:r>
          </a:p>
          <a:p>
            <a:pPr lvl="0"/>
            <a:r>
              <a:rPr lang="en-IN" sz="2200" dirty="0">
                <a:latin typeface="Times New Roman" panose="02020603050405020304" pitchFamily="18" charset="0"/>
                <a:cs typeface="Times New Roman" panose="02020603050405020304" pitchFamily="18" charset="0"/>
              </a:rPr>
              <a:t>Airflow automates ETL workflows. </a:t>
            </a:r>
          </a:p>
          <a:p>
            <a:pPr lvl="0"/>
            <a:r>
              <a:rPr lang="en-IN" sz="2200" dirty="0">
                <a:latin typeface="Times New Roman" panose="02020603050405020304" pitchFamily="18" charset="0"/>
                <a:cs typeface="Times New Roman" panose="02020603050405020304" pitchFamily="18" charset="0"/>
              </a:rPr>
              <a:t>PostgreSQL provides structured data storage. </a:t>
            </a:r>
          </a:p>
          <a:p>
            <a:pPr lvl="0"/>
            <a:r>
              <a:rPr lang="en-IN" sz="2200" dirty="0">
                <a:latin typeface="Times New Roman" panose="02020603050405020304" pitchFamily="18" charset="0"/>
                <a:cs typeface="Times New Roman" panose="02020603050405020304" pitchFamily="18" charset="0"/>
              </a:rPr>
              <a:t>Python supports data processing and demand prediction. </a:t>
            </a:r>
          </a:p>
          <a:p>
            <a:pPr lvl="0"/>
            <a:r>
              <a:rPr lang="en-IN" sz="2200" dirty="0">
                <a:latin typeface="Times New Roman" panose="02020603050405020304" pitchFamily="18" charset="0"/>
                <a:cs typeface="Times New Roman" panose="02020603050405020304" pitchFamily="18" charset="0"/>
              </a:rPr>
              <a:t>Power BI provides interactive visualization of analytical insights. </a:t>
            </a:r>
          </a:p>
          <a:p>
            <a:pPr lvl="0"/>
            <a:r>
              <a:rPr lang="en-IN" sz="2200" dirty="0">
                <a:latin typeface="Times New Roman" panose="02020603050405020304" pitchFamily="18" charset="0"/>
                <a:cs typeface="Times New Roman" panose="02020603050405020304" pitchFamily="18" charset="0"/>
              </a:rPr>
              <a:t>Docker supports consistent and scalable deployment. </a:t>
            </a:r>
          </a:p>
          <a:p>
            <a:pPr lvl="0"/>
            <a:r>
              <a:rPr lang="en-IN" sz="2200" dirty="0">
                <a:latin typeface="Times New Roman" panose="02020603050405020304" pitchFamily="18" charset="0"/>
                <a:cs typeface="Times New Roman" panose="02020603050405020304" pitchFamily="18" charset="0"/>
              </a:rPr>
              <a:t>The platform helps generate insights into </a:t>
            </a:r>
            <a:r>
              <a:rPr lang="en-IN" sz="2200" b="1" dirty="0">
                <a:latin typeface="Times New Roman" panose="02020603050405020304" pitchFamily="18" charset="0"/>
                <a:cs typeface="Times New Roman" panose="02020603050405020304" pitchFamily="18" charset="0"/>
              </a:rPr>
              <a:t>traffic, demand, and driver performance</a:t>
            </a:r>
            <a:r>
              <a:rPr lang="en-IN" sz="2200" dirty="0">
                <a:latin typeface="Times New Roman" panose="02020603050405020304" pitchFamily="18" charset="0"/>
                <a:cs typeface="Times New Roman" panose="02020603050405020304" pitchFamily="18" charset="0"/>
              </a:rPr>
              <a:t>.</a:t>
            </a:r>
          </a:p>
          <a:p>
            <a:endParaRPr lang="en-IN" dirty="0"/>
          </a:p>
        </p:txBody>
      </p:sp>
      <p:pic>
        <p:nvPicPr>
          <p:cNvPr id="5" name="Picture 4">
            <a:extLst>
              <a:ext uri="{FF2B5EF4-FFF2-40B4-BE49-F238E27FC236}">
                <a16:creationId xmlns:a16="http://schemas.microsoft.com/office/drawing/2014/main" id="{669865AD-BF72-09C7-12C7-0CB5401EC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1474075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3BB81-BC65-8839-557C-CE9CE68AFB02}"/>
              </a:ext>
            </a:extLst>
          </p:cNvPr>
          <p:cNvSpPr>
            <a:spLocks noGrp="1"/>
          </p:cNvSpPr>
          <p:nvPr>
            <p:ph type="title"/>
          </p:nvPr>
        </p:nvSpPr>
        <p:spPr>
          <a:xfrm>
            <a:off x="4351421" y="268873"/>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References</a:t>
            </a:r>
            <a:r>
              <a:rPr lang="en-IN" sz="40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2F6ABECF-9D49-823D-33E2-3F35295E8A3F}"/>
              </a:ext>
            </a:extLst>
          </p:cNvPr>
          <p:cNvSpPr>
            <a:spLocks noGrp="1"/>
          </p:cNvSpPr>
          <p:nvPr>
            <p:ph idx="1"/>
          </p:nvPr>
        </p:nvSpPr>
        <p:spPr/>
        <p:txBody>
          <a:bodyPr/>
          <a:lstStyle/>
          <a:p>
            <a:r>
              <a:rPr lang="en-IN" sz="2200" dirty="0">
                <a:latin typeface="Times New Roman" panose="02020603050405020304" pitchFamily="18" charset="0"/>
                <a:cs typeface="Times New Roman" panose="02020603050405020304" pitchFamily="18" charset="0"/>
              </a:rPr>
              <a:t>Use the papers already present in your Literature Survey:</a:t>
            </a:r>
          </a:p>
          <a:p>
            <a:pPr lvl="0"/>
            <a:r>
              <a:rPr lang="en-IN" sz="2200" b="1" dirty="0">
                <a:latin typeface="Times New Roman" panose="02020603050405020304" pitchFamily="18" charset="0"/>
                <a:cs typeface="Times New Roman" panose="02020603050405020304" pitchFamily="18" charset="0"/>
              </a:rPr>
              <a:t>Short-term prediction of demand for ride-hailing services: A deep learning approach (</a:t>
            </a:r>
            <a:r>
              <a:rPr lang="en-IN" sz="2200" b="1" dirty="0" err="1">
                <a:latin typeface="Times New Roman" panose="02020603050405020304" pitchFamily="18" charset="0"/>
                <a:cs typeface="Times New Roman" panose="02020603050405020304" pitchFamily="18" charset="0"/>
              </a:rPr>
              <a:t>UberNet</a:t>
            </a:r>
            <a:r>
              <a:rPr lang="en-IN" sz="2200" b="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 Long Chen et al. </a:t>
            </a:r>
          </a:p>
          <a:p>
            <a:pPr lvl="0"/>
            <a:r>
              <a:rPr lang="en-IN" sz="2200" b="1" dirty="0">
                <a:latin typeface="Times New Roman" panose="02020603050405020304" pitchFamily="18" charset="0"/>
                <a:cs typeface="Times New Roman" panose="02020603050405020304" pitchFamily="18" charset="0"/>
              </a:rPr>
              <a:t>Analysis and prediction of New York City taxi and Uber demands</a:t>
            </a:r>
            <a:r>
              <a:rPr lang="en-IN" sz="2200" dirty="0">
                <a:latin typeface="Times New Roman" panose="02020603050405020304" pitchFamily="18" charset="0"/>
                <a:cs typeface="Times New Roman" panose="02020603050405020304" pitchFamily="18" charset="0"/>
              </a:rPr>
              <a:t> </a:t>
            </a:r>
          </a:p>
          <a:p>
            <a:pPr lvl="0"/>
            <a:r>
              <a:rPr lang="en-IN" sz="2200" b="1" dirty="0">
                <a:latin typeface="Times New Roman" panose="02020603050405020304" pitchFamily="18" charset="0"/>
                <a:cs typeface="Times New Roman" panose="02020603050405020304" pitchFamily="18" charset="0"/>
              </a:rPr>
              <a:t>Ride-hailing fares and demand interactions</a:t>
            </a:r>
            <a:r>
              <a:rPr lang="en-IN" sz="2200" dirty="0">
                <a:latin typeface="Times New Roman" panose="02020603050405020304" pitchFamily="18" charset="0"/>
                <a:cs typeface="Times New Roman" panose="02020603050405020304" pitchFamily="18" charset="0"/>
              </a:rPr>
              <a:t> </a:t>
            </a:r>
          </a:p>
          <a:p>
            <a:pPr lvl="0"/>
            <a:r>
              <a:rPr lang="en-IN" sz="2200" b="1" dirty="0">
                <a:latin typeface="Times New Roman" panose="02020603050405020304" pitchFamily="18" charset="0"/>
                <a:cs typeface="Times New Roman" panose="02020603050405020304" pitchFamily="18" charset="0"/>
              </a:rPr>
              <a:t>Predicting Rideshare Demand</a:t>
            </a:r>
            <a:r>
              <a:rPr lang="en-IN" sz="2200" dirty="0">
                <a:latin typeface="Times New Roman" panose="02020603050405020304" pitchFamily="18" charset="0"/>
                <a:cs typeface="Times New Roman" panose="02020603050405020304" pitchFamily="18" charset="0"/>
              </a:rPr>
              <a:t> — Ken Steif </a:t>
            </a:r>
          </a:p>
          <a:p>
            <a:pPr lvl="0"/>
            <a:r>
              <a:rPr lang="en-IN" sz="2200" b="1" dirty="0" err="1">
                <a:latin typeface="Times New Roman" panose="02020603050405020304" pitchFamily="18" charset="0"/>
                <a:cs typeface="Times New Roman" panose="02020603050405020304" pitchFamily="18" charset="0"/>
              </a:rPr>
              <a:t>Modeling</a:t>
            </a:r>
            <a:r>
              <a:rPr lang="en-IN" sz="2200" b="1" dirty="0">
                <a:latin typeface="Times New Roman" panose="02020603050405020304" pitchFamily="18" charset="0"/>
                <a:cs typeface="Times New Roman" panose="02020603050405020304" pitchFamily="18" charset="0"/>
              </a:rPr>
              <a:t> and Prediction of Ride-Sharing Utilization Dynamics</a:t>
            </a:r>
            <a:r>
              <a:rPr lang="en-IN" sz="2200" dirty="0">
                <a:latin typeface="Times New Roman" panose="02020603050405020304" pitchFamily="18" charset="0"/>
                <a:cs typeface="Times New Roman" panose="02020603050405020304" pitchFamily="18" charset="0"/>
              </a:rPr>
              <a:t> </a:t>
            </a:r>
          </a:p>
          <a:p>
            <a:pPr lvl="0"/>
            <a:r>
              <a:rPr lang="en-IN" sz="2200" b="1" dirty="0">
                <a:latin typeface="Times New Roman" panose="02020603050405020304" pitchFamily="18" charset="0"/>
                <a:cs typeface="Times New Roman" panose="02020603050405020304" pitchFamily="18" charset="0"/>
              </a:rPr>
              <a:t>Real-time Text Analytics Pipeline Using Open-Source Big Data Tools</a:t>
            </a:r>
            <a:endParaRPr lang="en-IN" sz="2200"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9CCC389E-B43A-962E-1758-967314208D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27" y="0"/>
            <a:ext cx="1676400" cy="822730"/>
          </a:xfrm>
          <a:prstGeom prst="rect">
            <a:avLst/>
          </a:prstGeom>
          <a:noFill/>
          <a:ln>
            <a:noFill/>
          </a:ln>
        </p:spPr>
      </p:pic>
    </p:spTree>
    <p:extLst>
      <p:ext uri="{BB962C8B-B14F-4D97-AF65-F5344CB8AC3E}">
        <p14:creationId xmlns:p14="http://schemas.microsoft.com/office/powerpoint/2010/main" val="1133869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2060</Words>
  <Application>Microsoft Office PowerPoint</Application>
  <PresentationFormat>Widescreen</PresentationFormat>
  <Paragraphs>279</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Calibri Light</vt:lpstr>
      <vt:lpstr>Times New Roman</vt:lpstr>
      <vt:lpstr>Office Theme</vt:lpstr>
      <vt:lpstr>  Ride-Sharing Analytics Platform     </vt:lpstr>
      <vt:lpstr>Table of Contents</vt:lpstr>
      <vt:lpstr>Abstract</vt:lpstr>
      <vt:lpstr>Introduction </vt:lpstr>
      <vt:lpstr>Objectives</vt:lpstr>
      <vt:lpstr>Existing System</vt:lpstr>
      <vt:lpstr>Limitations of Existing System </vt:lpstr>
      <vt:lpstr>Proposed System </vt:lpstr>
      <vt:lpstr>Literature Survey</vt:lpstr>
      <vt:lpstr>Software Requirements </vt:lpstr>
      <vt:lpstr>Hardware Requirements </vt:lpstr>
      <vt:lpstr>Functional Requirements </vt:lpstr>
      <vt:lpstr>Non-Functional Requirements</vt:lpstr>
      <vt:lpstr>System Architecture</vt:lpstr>
      <vt:lpstr>UML Diagrams</vt:lpstr>
      <vt:lpstr>Methodology, System Design and Architecture</vt:lpstr>
      <vt:lpstr>Use of Modern Tools and Technologies</vt:lpstr>
      <vt:lpstr>Implementation, Coding Quality  and Functionality</vt:lpstr>
      <vt:lpstr>Implementation</vt:lpstr>
      <vt:lpstr>Implementation</vt:lpstr>
      <vt:lpstr>Implementation</vt:lpstr>
      <vt:lpstr>Functionality / Flow Diagram </vt:lpstr>
      <vt:lpstr>Results </vt:lpstr>
      <vt:lpstr>Comparison</vt:lpstr>
      <vt:lpstr>Conclusion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 sree</dc:creator>
  <cp:lastModifiedBy>dhanu sree</cp:lastModifiedBy>
  <cp:revision>4</cp:revision>
  <dcterms:created xsi:type="dcterms:W3CDTF">2026-08-16T15:36:26Z</dcterms:created>
  <dcterms:modified xsi:type="dcterms:W3CDTF">2026-09-18T04:45:02Z</dcterms:modified>
</cp:coreProperties>
</file>