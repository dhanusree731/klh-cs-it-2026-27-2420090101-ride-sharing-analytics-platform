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6" r:id="rId2"/>
    <p:sldId id="330" r:id="rId3"/>
    <p:sldId id="257" r:id="rId4"/>
    <p:sldId id="27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nu sree" userId="27574b1470f031ed" providerId="LiveId" clId="{81A57AFF-139F-450F-A66A-435A7A84504D}"/>
    <pc:docChg chg="undo custSel modSld">
      <pc:chgData name="dhanu sree" userId="27574b1470f031ed" providerId="LiveId" clId="{81A57AFF-139F-450F-A66A-435A7A84504D}" dt="2026-09-18T05:48:36.622" v="26" actId="255"/>
      <pc:docMkLst>
        <pc:docMk/>
      </pc:docMkLst>
      <pc:sldChg chg="modSp mod">
        <pc:chgData name="dhanu sree" userId="27574b1470f031ed" providerId="LiveId" clId="{81A57AFF-139F-450F-A66A-435A7A84504D}" dt="2026-09-18T05:48:36.622" v="26" actId="255"/>
        <pc:sldMkLst>
          <pc:docMk/>
          <pc:sldMk cId="0" sldId="286"/>
        </pc:sldMkLst>
        <pc:spChg chg="mod">
          <ac:chgData name="dhanu sree" userId="27574b1470f031ed" providerId="LiveId" clId="{81A57AFF-139F-450F-A66A-435A7A84504D}" dt="2026-09-18T05:46:17.769" v="23" actId="1076"/>
          <ac:spMkLst>
            <pc:docMk/>
            <pc:sldMk cId="0" sldId="286"/>
            <ac:spMk id="2" creationId="{00000000-0000-0000-0000-000000000000}"/>
          </ac:spMkLst>
        </pc:spChg>
        <pc:spChg chg="mod">
          <ac:chgData name="dhanu sree" userId="27574b1470f031ed" providerId="LiveId" clId="{81A57AFF-139F-450F-A66A-435A7A84504D}" dt="2026-09-18T05:48:36.622" v="26" actId="255"/>
          <ac:spMkLst>
            <pc:docMk/>
            <pc:sldMk cId="0" sldId="286"/>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D0270-8DDA-7D74-0011-72454A7CA2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5F22A1B-CD3B-F1C5-F4FC-E49AA8DE8B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685AB6E-D69A-2C83-EF7D-65F037332230}"/>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5" name="Footer Placeholder 4">
            <a:extLst>
              <a:ext uri="{FF2B5EF4-FFF2-40B4-BE49-F238E27FC236}">
                <a16:creationId xmlns:a16="http://schemas.microsoft.com/office/drawing/2014/main" id="{8A245011-B23B-7D57-3AE8-DA6CC7E9F2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C66E88-21BC-CF9E-29B7-54CCBE9E6112}"/>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4269152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B5160-E65D-D0BF-085E-64696CCD97E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94150F1-3713-D4FF-3A54-154CB19F48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031442-20CE-5956-C620-8D96D2442633}"/>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5" name="Footer Placeholder 4">
            <a:extLst>
              <a:ext uri="{FF2B5EF4-FFF2-40B4-BE49-F238E27FC236}">
                <a16:creationId xmlns:a16="http://schemas.microsoft.com/office/drawing/2014/main" id="{53632799-97AE-B5BA-5409-528B6E5C96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A516C6-9C4A-19B0-2DE1-D10A57DFEA77}"/>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178723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9729F-B37C-94C7-682F-BBE09DCEAC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0C76081-1F05-A31D-9EA4-02A50B086F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F9E1F3-9992-1BC1-76BC-5DF20D398077}"/>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5" name="Footer Placeholder 4">
            <a:extLst>
              <a:ext uri="{FF2B5EF4-FFF2-40B4-BE49-F238E27FC236}">
                <a16:creationId xmlns:a16="http://schemas.microsoft.com/office/drawing/2014/main" id="{2203DCCE-9712-85C4-62AE-32DF3A8768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13E2F2-E730-0871-03C0-B75712735555}"/>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310872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BDBF1-8392-C909-1F71-3466F64DDB1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C05CAE1-396E-E730-96E6-D1014977C2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176E7AE-9361-9418-9D80-B5D5D5DE4C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769F88E-C6C7-4A1E-C7BE-BA479AE5D4DD}"/>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6" name="Footer Placeholder 5">
            <a:extLst>
              <a:ext uri="{FF2B5EF4-FFF2-40B4-BE49-F238E27FC236}">
                <a16:creationId xmlns:a16="http://schemas.microsoft.com/office/drawing/2014/main" id="{DBAECC66-84D9-3F39-7D16-1960DCA9CF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587070-3E29-607A-811D-C251D4D0EAB3}"/>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4103850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35CF0-7EF5-0937-6863-A4FBC4B0801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AFF6478-94EC-5851-F141-E3861D85FE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BAB86D-B573-93AE-0326-191E7AE08C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D5553D6-2855-2D3E-0D72-C4175D1BA1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C326F4-A517-6748-0138-E02ECA224C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FA1468D-6EE1-46C7-C3FA-7F683DE869D1}"/>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8" name="Footer Placeholder 7">
            <a:extLst>
              <a:ext uri="{FF2B5EF4-FFF2-40B4-BE49-F238E27FC236}">
                <a16:creationId xmlns:a16="http://schemas.microsoft.com/office/drawing/2014/main" id="{13593F02-D553-03C3-99D9-657A1338814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3BC00DA-3EF0-DF59-38B8-66530386E059}"/>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1519327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AF7FF-50E0-5932-F4C2-7C4AF75A6E2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5001C93-76F2-8F78-A57E-C1F91C9139A7}"/>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4" name="Footer Placeholder 3">
            <a:extLst>
              <a:ext uri="{FF2B5EF4-FFF2-40B4-BE49-F238E27FC236}">
                <a16:creationId xmlns:a16="http://schemas.microsoft.com/office/drawing/2014/main" id="{F33FF2FA-79B6-0990-BD6C-D70893CB65B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E3E0311-1CD0-0620-E82E-EF0F27FC5FF6}"/>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3477866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5BF430-6F13-3E3C-20EE-46A0C7D4D09C}"/>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3" name="Footer Placeholder 2">
            <a:extLst>
              <a:ext uri="{FF2B5EF4-FFF2-40B4-BE49-F238E27FC236}">
                <a16:creationId xmlns:a16="http://schemas.microsoft.com/office/drawing/2014/main" id="{4ED00068-3667-6C29-BD67-1FEC8ADA1CF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2829C3E-D1C6-6675-848E-BC7A0455B7A0}"/>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2947307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C6A6E-68DE-7ABC-A846-0BA60D3E27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994CF27-7D6B-B50E-3B7E-5D39AF4A74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523A2C9-418D-5B02-6179-B9A7BD5436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E81D39-9005-088E-8B28-4D331BCEB853}"/>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6" name="Footer Placeholder 5">
            <a:extLst>
              <a:ext uri="{FF2B5EF4-FFF2-40B4-BE49-F238E27FC236}">
                <a16:creationId xmlns:a16="http://schemas.microsoft.com/office/drawing/2014/main" id="{4629E170-15C5-E218-66AF-D57C05DC33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75C9C9-1C8B-03CC-A638-67AD180D83B3}"/>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2198116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9EE60-B9D1-25A4-304A-292DCFEEF1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69073C0-6C3A-283B-28B2-90FC6383F5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D28E588-3F3C-B77D-4497-3FE7E36F7A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EAC981-CFEF-D8CB-157F-7F473D14EA7B}"/>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6" name="Footer Placeholder 5">
            <a:extLst>
              <a:ext uri="{FF2B5EF4-FFF2-40B4-BE49-F238E27FC236}">
                <a16:creationId xmlns:a16="http://schemas.microsoft.com/office/drawing/2014/main" id="{9EC40EBF-3BCE-1FC9-F482-8F8F6636961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A71BEC-16FC-D268-4657-4888DD648CAC}"/>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321241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97455-0ECC-B5A7-2556-3536271B413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6E4B56B-9901-21E4-4520-C40EEBAE69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2E4274-813A-EBD7-9B13-6FB319D63753}"/>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5" name="Footer Placeholder 4">
            <a:extLst>
              <a:ext uri="{FF2B5EF4-FFF2-40B4-BE49-F238E27FC236}">
                <a16:creationId xmlns:a16="http://schemas.microsoft.com/office/drawing/2014/main" id="{8FA645BE-0961-BD4A-49F9-CCD800711B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3976F3-31C4-03FA-BA92-E2F9CE150877}"/>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3282401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E33049-43A1-5519-0BC5-135B0571943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E58135-AB32-AADB-5800-4534E4E808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F04120-83EC-0C4E-1CC0-29ECE4191227}"/>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5" name="Footer Placeholder 4">
            <a:extLst>
              <a:ext uri="{FF2B5EF4-FFF2-40B4-BE49-F238E27FC236}">
                <a16:creationId xmlns:a16="http://schemas.microsoft.com/office/drawing/2014/main" id="{69673600-A1AD-0743-9E0B-0DD4A4EB8A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8DF818-96AA-7982-F0FD-6F1C1B59C440}"/>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1521254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860369-C392-6A3F-DAC8-77E97F43E0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2FCF481-B489-40E3-6E0C-33942120C2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723E32-78B3-50B4-3C34-EEB7C40B18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C93965-B662-4189-87C7-BF3F9094543D}" type="datetimeFigureOut">
              <a:rPr lang="en-IN" smtClean="0"/>
              <a:t>18-09-2026</a:t>
            </a:fld>
            <a:endParaRPr lang="en-IN"/>
          </a:p>
        </p:txBody>
      </p:sp>
      <p:sp>
        <p:nvSpPr>
          <p:cNvPr id="5" name="Footer Placeholder 4">
            <a:extLst>
              <a:ext uri="{FF2B5EF4-FFF2-40B4-BE49-F238E27FC236}">
                <a16:creationId xmlns:a16="http://schemas.microsoft.com/office/drawing/2014/main" id="{DAEDA26C-ABF6-3AAE-C94C-CC836CF1F8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5B988C9-BB64-DCA6-07B8-B79F1FB045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222CB0-5FF1-4E2B-B057-A7FA726952A0}" type="slidenum">
              <a:rPr lang="en-IN" smtClean="0"/>
              <a:t>‹#›</a:t>
            </a:fld>
            <a:endParaRPr lang="en-IN"/>
          </a:p>
        </p:txBody>
      </p:sp>
    </p:spTree>
    <p:extLst>
      <p:ext uri="{BB962C8B-B14F-4D97-AF65-F5344CB8AC3E}">
        <p14:creationId xmlns:p14="http://schemas.microsoft.com/office/powerpoint/2010/main" val="18090747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52316" y="0"/>
            <a:ext cx="5829300" cy="1778558"/>
          </a:xfrm>
        </p:spPr>
        <p:txBody>
          <a:bodyPr>
            <a:normAutofit fontScale="90000"/>
          </a:bodyPr>
          <a:lstStyle/>
          <a:p>
            <a:pPr>
              <a:lnSpc>
                <a:spcPct val="60000"/>
              </a:lnSpc>
              <a:spcBef>
                <a:spcPts val="600"/>
              </a:spcBef>
              <a:spcAft>
                <a:spcPts val="600"/>
              </a:spcAft>
              <a:defRPr/>
            </a:pPr>
            <a:br>
              <a:rPr lang="en-US" sz="3100" b="1" dirty="0">
                <a:latin typeface="Times New Roman" pitchFamily="18" charset="0"/>
                <a:cs typeface="Times New Roman" pitchFamily="18" charset="0"/>
              </a:rPr>
            </a:br>
            <a:br>
              <a:rPr lang="en-US" sz="3100" b="1" dirty="0">
                <a:latin typeface="Times New Roman" pitchFamily="18" charset="0"/>
                <a:cs typeface="Times New Roman" pitchFamily="18" charset="0"/>
              </a:rPr>
            </a:br>
            <a:r>
              <a:rPr lang="en-IN" sz="3100" b="1" dirty="0">
                <a:solidFill>
                  <a:schemeClr val="tx2"/>
                </a:solidFill>
                <a:latin typeface="Times New Roman" panose="02020603050405020304" pitchFamily="18" charset="0"/>
                <a:cs typeface="Times New Roman" panose="02020603050405020304" pitchFamily="18" charset="0"/>
              </a:rPr>
              <a:t>Ride-Sharing Analytics Platform</a:t>
            </a:r>
            <a:r>
              <a:rPr lang="en-US" sz="3100" b="1" dirty="0">
                <a:solidFill>
                  <a:schemeClr val="tx2"/>
                </a:solidFill>
                <a:latin typeface="Times New Roman" panose="02020603050405020304" pitchFamily="18" charset="0"/>
                <a:cs typeface="Times New Roman" panose="02020603050405020304" pitchFamily="18" charset="0"/>
              </a:rPr>
              <a:t> </a:t>
            </a:r>
            <a:br>
              <a:rPr lang="en-US" sz="3100" b="1" dirty="0">
                <a:latin typeface="Times New Roman" panose="02020603050405020304" pitchFamily="18" charset="0"/>
                <a:cs typeface="Times New Roman" panose="02020603050405020304" pitchFamily="18" charset="0"/>
              </a:rPr>
            </a:br>
            <a:br>
              <a:rPr lang="en-US" sz="3100" b="1"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Review – 1</a:t>
            </a:r>
            <a:br>
              <a:rPr lang="en-US" sz="2200" b="1" dirty="0">
                <a:latin typeface="Times New Roman" panose="02020603050405020304" pitchFamily="18" charset="0"/>
                <a:cs typeface="Times New Roman" panose="02020603050405020304" pitchFamily="18" charset="0"/>
              </a:rPr>
            </a:br>
            <a:br>
              <a:rPr lang="en-US" sz="2200" b="1" dirty="0">
                <a:latin typeface="Times New Roman" panose="02020603050405020304" pitchFamily="18" charset="0"/>
                <a:cs typeface="Times New Roman" panose="02020603050405020304" pitchFamily="18" charset="0"/>
              </a:rPr>
            </a:br>
            <a:r>
              <a:rPr lang="en-US" sz="2400" b="1" dirty="0">
                <a:latin typeface="Times New Roman" pitchFamily="18" charset="0"/>
                <a:cs typeface="Times New Roman" pitchFamily="18" charset="0"/>
              </a:rPr>
              <a:t>Section No : 04</a:t>
            </a:r>
            <a:br>
              <a:rPr lang="en-US" sz="2400" b="1" dirty="0">
                <a:latin typeface="Times New Roman" pitchFamily="18" charset="0"/>
                <a:cs typeface="Times New Roman" pitchFamily="18" charset="0"/>
              </a:rPr>
            </a:br>
            <a:endParaRPr lang="en-US" sz="22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924175" y="1523999"/>
            <a:ext cx="6343650" cy="2885515"/>
          </a:xfrm>
        </p:spPr>
        <p:txBody>
          <a:bodyPr>
            <a:normAutofit fontScale="25000" lnSpcReduction="20000"/>
          </a:bodyPr>
          <a:lstStyle/>
          <a:p>
            <a:pPr>
              <a:lnSpc>
                <a:spcPct val="120000"/>
              </a:lnSpc>
              <a:spcBef>
                <a:spcPts val="200"/>
              </a:spcBef>
              <a:defRPr/>
            </a:pPr>
            <a:endParaRPr lang="en-US" sz="7200" b="1" dirty="0">
              <a:latin typeface="Times New Roman" pitchFamily="18" charset="0"/>
              <a:cs typeface="Times New Roman" pitchFamily="18" charset="0"/>
            </a:endParaRPr>
          </a:p>
          <a:p>
            <a:pPr>
              <a:lnSpc>
                <a:spcPct val="80000"/>
              </a:lnSpc>
              <a:spcBef>
                <a:spcPts val="200"/>
              </a:spcBef>
              <a:defRPr/>
            </a:pPr>
            <a:r>
              <a:rPr lang="en-US" sz="7200" b="1" dirty="0">
                <a:latin typeface="Times New Roman" pitchFamily="18" charset="0"/>
                <a:cs typeface="Times New Roman" pitchFamily="18" charset="0"/>
              </a:rPr>
              <a:t>TEAM NO  : 20</a:t>
            </a:r>
          </a:p>
          <a:p>
            <a:pPr>
              <a:lnSpc>
                <a:spcPct val="80000"/>
              </a:lnSpc>
              <a:spcBef>
                <a:spcPts val="200"/>
              </a:spcBef>
              <a:defRPr/>
            </a:pPr>
            <a:endParaRPr lang="en-US" sz="4900" b="1" dirty="0">
              <a:solidFill>
                <a:srgbClr val="00B0F0"/>
              </a:solidFill>
              <a:latin typeface="Times New Roman" pitchFamily="18" charset="0"/>
              <a:cs typeface="Times New Roman" pitchFamily="18" charset="0"/>
            </a:endParaRPr>
          </a:p>
          <a:p>
            <a:pPr>
              <a:lnSpc>
                <a:spcPct val="80000"/>
              </a:lnSpc>
              <a:spcBef>
                <a:spcPts val="200"/>
              </a:spcBef>
              <a:defRPr/>
            </a:pPr>
            <a:r>
              <a:rPr lang="en-US" sz="6400" dirty="0">
                <a:solidFill>
                  <a:srgbClr val="0D0D0D"/>
                </a:solidFill>
                <a:latin typeface="Times New Roman" panose="02020603050405020304" pitchFamily="18" charset="0"/>
                <a:cs typeface="Times New Roman" pitchFamily="18" charset="0"/>
              </a:rPr>
              <a:t>2420090101 – N DhanuSree</a:t>
            </a:r>
          </a:p>
          <a:p>
            <a:pPr>
              <a:lnSpc>
                <a:spcPct val="80000"/>
              </a:lnSpc>
              <a:spcBef>
                <a:spcPts val="200"/>
              </a:spcBef>
              <a:defRPr/>
            </a:pPr>
            <a:endParaRPr lang="en-US" sz="6400" dirty="0">
              <a:solidFill>
                <a:srgbClr val="0D0D0D"/>
              </a:solidFill>
              <a:latin typeface="Times New Roman" panose="02020603050405020304" pitchFamily="18" charset="0"/>
              <a:cs typeface="Times New Roman" pitchFamily="18" charset="0"/>
            </a:endParaRPr>
          </a:p>
          <a:p>
            <a:pPr>
              <a:lnSpc>
                <a:spcPct val="80000"/>
              </a:lnSpc>
              <a:spcBef>
                <a:spcPts val="200"/>
              </a:spcBef>
              <a:defRPr/>
            </a:pPr>
            <a:r>
              <a:rPr lang="en-US" sz="6400" dirty="0">
                <a:solidFill>
                  <a:srgbClr val="0D0D0D"/>
                </a:solidFill>
                <a:latin typeface="Times New Roman" panose="02020603050405020304" pitchFamily="18" charset="0"/>
                <a:cs typeface="Times New Roman" pitchFamily="18" charset="0"/>
              </a:rPr>
              <a:t>2420090032  - Y Viditha</a:t>
            </a:r>
          </a:p>
          <a:p>
            <a:pPr>
              <a:lnSpc>
                <a:spcPct val="80000"/>
              </a:lnSpc>
              <a:spcBef>
                <a:spcPts val="200"/>
              </a:spcBef>
              <a:defRPr/>
            </a:pPr>
            <a:r>
              <a:rPr lang="en-US" sz="6400" dirty="0">
                <a:solidFill>
                  <a:srgbClr val="0D0D0D"/>
                </a:solidFill>
                <a:latin typeface="Times New Roman" panose="02020603050405020304" pitchFamily="18" charset="0"/>
                <a:cs typeface="Times New Roman" pitchFamily="18" charset="0"/>
              </a:rPr>
              <a:t>                         </a:t>
            </a:r>
          </a:p>
          <a:p>
            <a:pPr>
              <a:lnSpc>
                <a:spcPct val="80000"/>
              </a:lnSpc>
              <a:spcBef>
                <a:spcPts val="200"/>
              </a:spcBef>
              <a:defRPr/>
            </a:pPr>
            <a:r>
              <a:rPr lang="en-US" sz="6400" dirty="0">
                <a:solidFill>
                  <a:srgbClr val="0D0D0D"/>
                </a:solidFill>
                <a:latin typeface="Times New Roman" panose="02020603050405020304" pitchFamily="18" charset="0"/>
                <a:cs typeface="Times New Roman" pitchFamily="18" charset="0"/>
              </a:rPr>
              <a:t>2420030678  – G GopiKrishna</a:t>
            </a:r>
          </a:p>
          <a:p>
            <a:pPr>
              <a:lnSpc>
                <a:spcPct val="80000"/>
              </a:lnSpc>
              <a:defRPr/>
            </a:pPr>
            <a:endParaRPr lang="en-US" sz="4200" b="1" dirty="0">
              <a:solidFill>
                <a:srgbClr val="FF0000"/>
              </a:solidFill>
              <a:latin typeface="Times New Roman" pitchFamily="18" charset="0"/>
              <a:cs typeface="Times New Roman" pitchFamily="18" charset="0"/>
            </a:endParaRPr>
          </a:p>
          <a:p>
            <a:pPr>
              <a:lnSpc>
                <a:spcPct val="80000"/>
              </a:lnSpc>
              <a:defRPr/>
            </a:pPr>
            <a:r>
              <a:rPr lang="en-GB" sz="5200" b="1" i="1" dirty="0">
                <a:solidFill>
                  <a:srgbClr val="FF0000"/>
                </a:solidFill>
                <a:latin typeface="Times New Roman" panose="02020603050405020304" pitchFamily="18" charset="0"/>
                <a:ea typeface="Times New Roman" panose="02020603050405020304" pitchFamily="18" charset="0"/>
              </a:rPr>
              <a:t>Under the guidance of </a:t>
            </a:r>
          </a:p>
          <a:p>
            <a:pPr>
              <a:lnSpc>
                <a:spcPct val="80000"/>
              </a:lnSpc>
              <a:defRPr/>
            </a:pPr>
            <a:endParaRPr lang="en-US" sz="6400" dirty="0">
              <a:solidFill>
                <a:srgbClr val="0D0D0D"/>
              </a:solidFill>
              <a:latin typeface="Times New Roman" pitchFamily="18" charset="0"/>
              <a:cs typeface="Times New Roman" pitchFamily="18" charset="0"/>
            </a:endParaRPr>
          </a:p>
          <a:p>
            <a:pPr>
              <a:lnSpc>
                <a:spcPct val="80000"/>
              </a:lnSpc>
              <a:defRPr/>
            </a:pPr>
            <a:r>
              <a:rPr lang="en-US" sz="7200" b="1" dirty="0">
                <a:latin typeface="Times New Roman" panose="02020603050405020304" pitchFamily="18" charset="0"/>
                <a:cs typeface="Times New Roman" panose="02020603050405020304" pitchFamily="18" charset="0"/>
              </a:rPr>
              <a:t>Dr. NALLA SIRISHA </a:t>
            </a:r>
          </a:p>
          <a:p>
            <a:pPr>
              <a:lnSpc>
                <a:spcPct val="80000"/>
              </a:lnSpc>
              <a:defRPr/>
            </a:pPr>
            <a:r>
              <a:rPr lang="en-US" sz="7200" b="1" dirty="0">
                <a:latin typeface="Times New Roman" panose="02020603050405020304" pitchFamily="18" charset="0"/>
                <a:cs typeface="Times New Roman" panose="02020603050405020304" pitchFamily="18" charset="0"/>
              </a:rPr>
              <a:t>Associate Professor </a:t>
            </a:r>
          </a:p>
          <a:p>
            <a:pPr>
              <a:lnSpc>
                <a:spcPct val="80000"/>
              </a:lnSpc>
              <a:defRPr/>
            </a:pPr>
            <a:endParaRPr lang="en-US" sz="4200" b="1" dirty="0">
              <a:latin typeface="Times New Roman" panose="02020603050405020304" pitchFamily="18" charset="0"/>
              <a:cs typeface="Times New Roman" panose="02020603050405020304" pitchFamily="18" charset="0"/>
            </a:endParaRPr>
          </a:p>
          <a:p>
            <a:pPr>
              <a:lnSpc>
                <a:spcPct val="80000"/>
              </a:lnSpc>
              <a:defRPr/>
            </a:pPr>
            <a:r>
              <a:rPr lang="en-US" sz="4200" b="1" dirty="0">
                <a:solidFill>
                  <a:srgbClr val="0070C0"/>
                </a:solidFill>
                <a:latin typeface="Times New Roman" pitchFamily="18" charset="0"/>
                <a:cs typeface="Times New Roman" pitchFamily="18" charset="0"/>
              </a:rPr>
              <a:t>Department of Computer Science and Engineering</a:t>
            </a:r>
          </a:p>
          <a:p>
            <a:pPr>
              <a:lnSpc>
                <a:spcPct val="80000"/>
              </a:lnSpc>
              <a:defRPr/>
            </a:pPr>
            <a:r>
              <a:rPr lang="en-US" sz="4200" b="1" dirty="0">
                <a:solidFill>
                  <a:srgbClr val="0D0D0D"/>
                </a:solidFill>
                <a:latin typeface="Times New Roman" pitchFamily="18" charset="0"/>
                <a:cs typeface="Times New Roman" pitchFamily="18" charset="0"/>
              </a:rPr>
              <a:t>                                                </a:t>
            </a:r>
            <a:r>
              <a:rPr lang="en-US" sz="4200" dirty="0">
                <a:solidFill>
                  <a:srgbClr val="0D0D0D"/>
                </a:solidFill>
                <a:latin typeface="Times New Roman" pitchFamily="18" charset="0"/>
                <a:cs typeface="Times New Roman" pitchFamily="18" charset="0"/>
              </a:rPr>
              <a:t>                              </a:t>
            </a:r>
            <a:r>
              <a:rPr lang="en-US" sz="18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2838450" y="5610868"/>
            <a:ext cx="6858000" cy="1047403"/>
          </a:xfrm>
          <a:prstGeom prst="rect">
            <a:avLst/>
          </a:prstGeom>
          <a:noFill/>
        </p:spPr>
        <p:txBody>
          <a:bodyPr wrap="square">
            <a:spAutoFit/>
          </a:bodyPr>
          <a:lstStyle/>
          <a:p>
            <a:pPr algn="ctr">
              <a:lnSpc>
                <a:spcPct val="107000"/>
              </a:lnSpc>
              <a:spcBef>
                <a:spcPts val="1166"/>
              </a:spcBef>
              <a:spcAft>
                <a:spcPts val="600"/>
              </a:spcAft>
            </a:pPr>
            <a:r>
              <a:rPr lang="en-GB" sz="2100" b="1" kern="100" dirty="0">
                <a:latin typeface="Times New Roman" panose="02020603050405020304" pitchFamily="18" charset="0"/>
                <a:ea typeface="Times New Roman" panose="02020603050405020304" pitchFamily="18" charset="0"/>
                <a:cs typeface="Times New Roman" panose="02020603050405020304" pitchFamily="18" charset="0"/>
              </a:rPr>
              <a:t>Koneru Lakshmaiah Education Foundation</a:t>
            </a:r>
            <a:b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t>(Deemed to be University estd. u/s. 3 of the UGC Act, 1956)</a:t>
            </a:r>
            <a:b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Off-Campus: Bachupally-Gandimaisamma Road, Bowrampet, Hyderabad, Telangana - 500 043.</a:t>
            </a:r>
            <a:b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200" b="1" u="sng" kern="100" dirty="0">
                <a:solidFill>
                  <a:srgbClr val="467886"/>
                </a:solidFill>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200" kern="100" dirty="0">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9955" y="4757114"/>
            <a:ext cx="1874990" cy="939785"/>
          </a:xfrm>
          <a:prstGeom prst="rect">
            <a:avLst/>
          </a:prstGeom>
          <a:noFill/>
          <a:ln>
            <a:noFill/>
          </a:ln>
        </p:spPr>
      </p:pic>
      <p:pic>
        <p:nvPicPr>
          <p:cNvPr id="6" name="Picture 5">
            <a:extLst>
              <a:ext uri="{FF2B5EF4-FFF2-40B4-BE49-F238E27FC236}">
                <a16:creationId xmlns:a16="http://schemas.microsoft.com/office/drawing/2014/main" id="{52812A92-25D5-E049-7FEF-06CDECA037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874990" cy="93978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9000F-F1BD-E613-820F-D1F8E8E65E75}"/>
              </a:ext>
            </a:extLst>
          </p:cNvPr>
          <p:cNvSpPr>
            <a:spLocks noGrp="1"/>
          </p:cNvSpPr>
          <p:nvPr>
            <p:ph type="title"/>
          </p:nvPr>
        </p:nvSpPr>
        <p:spPr>
          <a:xfrm>
            <a:off x="3770671" y="232680"/>
            <a:ext cx="8229600" cy="1143000"/>
          </a:xfrm>
        </p:spPr>
        <p:txBody>
          <a:bodyPr/>
          <a:lstStyle/>
          <a:p>
            <a:r>
              <a:rPr lang="en-US" dirty="0">
                <a:latin typeface="Times New Roman" panose="02020603050405020304" pitchFamily="18" charset="0"/>
                <a:cs typeface="Times New Roman" panose="02020603050405020304" pitchFamily="18" charset="0"/>
              </a:rPr>
              <a:t>Table of Contents</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D15B7CB-5703-360E-5EFA-6C813477C3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74990" cy="939785"/>
          </a:xfrm>
          <a:prstGeom prst="rect">
            <a:avLst/>
          </a:prstGeom>
          <a:noFill/>
          <a:ln>
            <a:noFill/>
          </a:ln>
        </p:spPr>
      </p:pic>
      <p:sp>
        <p:nvSpPr>
          <p:cNvPr id="8" name="TextBox 7">
            <a:extLst>
              <a:ext uri="{FF2B5EF4-FFF2-40B4-BE49-F238E27FC236}">
                <a16:creationId xmlns:a16="http://schemas.microsoft.com/office/drawing/2014/main" id="{8D6F5C32-01B2-BBA6-DC38-CAAD2E3FC292}"/>
              </a:ext>
            </a:extLst>
          </p:cNvPr>
          <p:cNvSpPr txBox="1"/>
          <p:nvPr/>
        </p:nvSpPr>
        <p:spPr>
          <a:xfrm>
            <a:off x="1246239" y="1483836"/>
            <a:ext cx="6235137" cy="830997"/>
          </a:xfrm>
          <a:prstGeom prst="rect">
            <a:avLst/>
          </a:prstGeom>
          <a:noFill/>
        </p:spPr>
        <p:txBody>
          <a:bodyPr wrap="square">
            <a:sp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Abstract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Introduction </a:t>
            </a:r>
          </a:p>
        </p:txBody>
      </p:sp>
    </p:spTree>
    <p:extLst>
      <p:ext uri="{BB962C8B-B14F-4D97-AF65-F5344CB8AC3E}">
        <p14:creationId xmlns:p14="http://schemas.microsoft.com/office/powerpoint/2010/main" val="3993124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23620" y="233516"/>
            <a:ext cx="8229600" cy="1143000"/>
          </a:xfrm>
        </p:spPr>
        <p:txBody>
          <a:bodyPr>
            <a:normAutofit/>
          </a:bodyPr>
          <a:lstStyle/>
          <a:p>
            <a:pPr algn="just"/>
            <a:r>
              <a:rPr lang="en-US" b="1" dirty="0">
                <a:latin typeface="Times New Roman" pitchFamily="18" charset="0"/>
                <a:cs typeface="Times New Roman" pitchFamily="18" charset="0"/>
              </a:rPr>
              <a:t>Abstract</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a:xfrm>
            <a:off x="1091381" y="1226574"/>
            <a:ext cx="10156722" cy="4404852"/>
          </a:xfrm>
        </p:spPr>
        <p:txBody>
          <a:bodyPr>
            <a:noAutofit/>
          </a:bodyPr>
          <a:lstStyle/>
          <a:p>
            <a:pPr marL="0" indent="0">
              <a:buNone/>
            </a:pPr>
            <a:r>
              <a:rPr lang="en-IN" sz="2000" dirty="0">
                <a:latin typeface="Times New Roman" panose="02020603050405020304" pitchFamily="18" charset="0"/>
                <a:cs typeface="Times New Roman" panose="02020603050405020304" pitchFamily="18" charset="0"/>
              </a:rPr>
              <a:t>The rapid growth of ride-sharing platforms like Uber has made data-driven decision-making essential for improving service efficiency and customer experience in urban transportation. This project, "Ride-Sharing Analytics Platform," proposes an Uber-like system that stores trip information, calculates peak traffic hours, tracks driver performance, and predicts future ride demand. The platform is built using Python for data processing, PostgreSQL for structured storage, Apache Kafka for real-time streaming, Apache Airflow for ETL pipeline orchestration, Docker for containerized deployment, and Power BI for interactive dashboard visualization. By automating data collection and transformation through scalable ETL pipelines, the system delivers actionable insights on demand patterns, traffic trends, and driver performance, supporting better fleet management and pricing decisions. Through this project, practical skills are gained in ETL pipeline development, database management, data warehousing, and dashboard design — key competencies for real-world data engineering roles.</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1" y="0"/>
            <a:ext cx="1688690" cy="88423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7929" y="80902"/>
            <a:ext cx="8229600" cy="1143000"/>
          </a:xfrm>
        </p:spPr>
        <p:txBody>
          <a:bodyPr>
            <a:normAutofit/>
          </a:bodyPr>
          <a:lstStyle/>
          <a:p>
            <a:pPr algn="just"/>
            <a:r>
              <a:rPr lang="en-US" b="1" dirty="0">
                <a:latin typeface="Times New Roman" panose="02020603050405020304" pitchFamily="18" charset="0"/>
                <a:cs typeface="Times New Roman" panose="02020603050405020304" pitchFamily="18" charset="0"/>
              </a:rPr>
              <a:t>Introduction</a:t>
            </a:r>
            <a:r>
              <a:rPr lang="en-US" sz="2400" dirty="0">
                <a:latin typeface="Times New Roman" panose="02020603050405020304" pitchFamily="18" charset="0"/>
                <a:cs typeface="Times New Roman" panose="02020603050405020304" pitchFamily="18" charset="0"/>
              </a:rPr>
              <a:t> </a:t>
            </a:r>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995517" y="1223902"/>
            <a:ext cx="10596715" cy="5437239"/>
          </a:xfrm>
        </p:spPr>
        <p:txBody>
          <a:bodyPr>
            <a:noAutofit/>
          </a:bodyPr>
          <a:lstStyle/>
          <a:p>
            <a:pPr algn="just"/>
            <a:r>
              <a:rPr lang="en-IN" sz="2000" dirty="0"/>
              <a:t>The emergence of ride-sharing platforms has significantly reshaped urban mobility, offering passengers a convenient, technology-driven alternative to traditional modes of transportation.</a:t>
            </a:r>
          </a:p>
          <a:p>
            <a:pPr algn="just"/>
            <a:r>
              <a:rPr lang="en-IN" sz="2000" dirty="0"/>
              <a:t>These platforms generate massive volumes of data daily — including trip requests, real-time driver locations, fare details, and user behavior patterns — making </a:t>
            </a:r>
            <a:r>
              <a:rPr lang="en-IN" sz="2000" dirty="0">
                <a:latin typeface="Times New Roman" panose="02020603050405020304" pitchFamily="18" charset="0"/>
                <a:cs typeface="Times New Roman" panose="02020603050405020304" pitchFamily="18" charset="0"/>
              </a:rPr>
              <a:t>efficient</a:t>
            </a:r>
            <a:r>
              <a:rPr lang="en-IN" sz="2000" dirty="0"/>
              <a:t> data analysis critical for service improvement.</a:t>
            </a:r>
          </a:p>
          <a:p>
            <a:pPr algn="just"/>
            <a:r>
              <a:rPr lang="en-IN" sz="2000" dirty="0"/>
              <a:t>Despite this abundance of data, many platforms lack a structured analytical framework to convert raw data into actionable business insights.</a:t>
            </a:r>
          </a:p>
          <a:p>
            <a:pPr algn="just"/>
            <a:r>
              <a:rPr lang="en-IN" sz="2000" dirty="0"/>
              <a:t>Common operational challenges include inconsistent driver availability during peak hours, inefficient route allocation, and unpredictable fare surges, all of which affect customer satisfaction and platform reliability.</a:t>
            </a:r>
          </a:p>
          <a:p>
            <a:pPr algn="just"/>
            <a:r>
              <a:rPr lang="en-IN" sz="2000" dirty="0"/>
              <a:t>This project addresses these challenges by developing a Ride-Sharing Analytics Platform that processes trip data through automated pipelines to generate insights on demand, traffic, and driver performance.</a:t>
            </a:r>
          </a:p>
          <a:p>
            <a:pPr algn="just"/>
            <a:r>
              <a:rPr lang="en-IN" sz="2000" dirty="0"/>
              <a:t>The system leverages modern data engineering tools to deliver a scalable, real-time analytics solution that supports informed, data-driven decision-making</a:t>
            </a:r>
            <a:endParaRPr lang="en-US" sz="2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27" y="0"/>
            <a:ext cx="1676400" cy="82273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436</Words>
  <Application>Microsoft Office PowerPoint</Application>
  <PresentationFormat>Widescreen</PresentationFormat>
  <Paragraphs>30</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Aptos</vt:lpstr>
      <vt:lpstr>Arial</vt:lpstr>
      <vt:lpstr>Calibri</vt:lpstr>
      <vt:lpstr>Calibri Light</vt:lpstr>
      <vt:lpstr>Times New Roman</vt:lpstr>
      <vt:lpstr>Office Theme</vt:lpstr>
      <vt:lpstr>  Ride-Sharing Analytics Platform   Review – 1  Section No : 04 </vt:lpstr>
      <vt:lpstr>Table of Contents</vt:lpstr>
      <vt:lpstr>Abstract</vt:lpstr>
      <vt:lpstr>Introduction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dhanu sree</dc:creator>
  <cp:lastModifiedBy>dhanu sree</cp:lastModifiedBy>
  <cp:revision>1</cp:revision>
  <dcterms:created xsi:type="dcterms:W3CDTF">2026-08-16T15:36:26Z</dcterms:created>
  <dcterms:modified xsi:type="dcterms:W3CDTF">2026-09-18T05:48:45Z</dcterms:modified>
</cp:coreProperties>
</file>